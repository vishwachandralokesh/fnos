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828800"/>
            <a:ext cx="137160" cy="29260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828800"/>
            <a:ext cx="9601200" cy="2926080"/>
          </a:xfrm>
          <a:prstGeom prst="rect">
            <a:avLst/>
          </a:prstGeom>
          <a:noFill/>
        </p:spPr>
        <p:txBody>
          <a:bodyPr wrap="square">
            <a:spAutoFit/>
          </a:bodyPr>
          <a:lstStyle/>
          <a:p>
            <a:pPr>
              <a:defRPr sz="3800" b="1">
                <a:solidFill>
                  <a:srgbClr val="FFFFFF"/>
                </a:solidFill>
              </a:defRPr>
            </a:pPr>
            <a:r>
              <a:t>MARS Food &amp; Nutrition</a:t>
            </a:r>
          </a:p>
          <a:p>
            <a:pPr>
              <a:spcBef>
                <a:spcPts val="1200"/>
              </a:spcBef>
              <a:defRPr sz="2800" b="0">
                <a:solidFill>
                  <a:srgbClr val="BFDBFE"/>
                </a:solidFill>
              </a:defRPr>
            </a:pPr>
            <a:r>
              <a:t>FNOS European Executive Performance Review</a:t>
            </a:r>
          </a:p>
          <a:p>
            <a:pPr>
              <a:spcBef>
                <a:spcPts val="2400"/>
              </a:spcBef>
              <a:defRPr sz="1400">
                <a:solidFill>
                  <a:srgbClr val="94A3B8"/>
                </a:solidFill>
              </a:defRPr>
            </a:pPr>
            <a:r>
              <a:t>P01-P04 2026 Strategy Review • 10 Key European Markets • Governance Certified</a:t>
            </a:r>
          </a:p>
        </p:txBody>
      </p:sp>
      <p:sp>
        <p:nvSpPr>
          <p:cNvPr id="5" name="TextBox 4"/>
          <p:cNvSpPr txBox="1"/>
          <p:nvPr/>
        </p:nvSpPr>
        <p:spPr>
          <a:xfrm>
            <a:off x="1463040" y="5303520"/>
            <a:ext cx="9144000" cy="731520"/>
          </a:xfrm>
          <a:prstGeom prst="rect">
            <a:avLst/>
          </a:prstGeom>
          <a:noFill/>
        </p:spPr>
        <p:txBody>
          <a:bodyPr wrap="none">
            <a:spAutoFit/>
          </a:bodyPr>
          <a:lstStyle/>
          <a:p>
            <a:pPr>
              <a:defRPr sz="1100">
                <a:solidFill>
                  <a:srgbClr val="94A3B8"/>
                </a:solidFill>
              </a:defRPr>
            </a:pPr>
            <a:r>
              <a:t>Compiled via FNOS Automation Engine | Databricks Gold Layer Feeds | Executive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European Regional KBI Summary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MACRO BUSINESS PERFORMANCE MATRIX</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 of 80</a:t>
            </a:r>
          </a:p>
        </p:txBody>
      </p:sp>
      <p:sp>
        <p:nvSpPr>
          <p:cNvPr id="9" name="Rounded Rectangle 8"/>
          <p:cNvSpPr/>
          <p:nvPr/>
        </p:nvSpPr>
        <p:spPr>
          <a:xfrm>
            <a:off x="731520" y="1645920"/>
            <a:ext cx="2011680"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1737360" cy="3749039"/>
          </a:xfrm>
          <a:prstGeom prst="rect">
            <a:avLst/>
          </a:prstGeom>
          <a:noFill/>
        </p:spPr>
        <p:txBody>
          <a:bodyPr wrap="square">
            <a:spAutoFit/>
          </a:bodyPr>
          <a:lstStyle/>
          <a:p>
            <a:pPr>
              <a:defRPr sz="1100" b="1">
                <a:solidFill>
                  <a:srgbClr val="64748B"/>
                </a:solidFill>
              </a:defRPr>
            </a:pPr>
            <a:r>
              <a:t>Retail Sales Value (RSV)</a:t>
            </a:r>
          </a:p>
          <a:p>
            <a:pPr>
              <a:spcBef>
                <a:spcPts val="1400"/>
              </a:spcBef>
              <a:defRPr sz="2400" b="1">
                <a:solidFill>
                  <a:srgbClr val="0B2545"/>
                </a:solidFill>
              </a:defRPr>
            </a:pPr>
            <a:r>
              <a:t>€6.7 B</a:t>
            </a:r>
          </a:p>
          <a:p>
            <a:pPr>
              <a:spcBef>
                <a:spcPts val="600"/>
              </a:spcBef>
              <a:defRPr sz="1300" b="1">
                <a:solidFill>
                  <a:srgbClr val="10955D"/>
                </a:solidFill>
              </a:defRPr>
            </a:pPr>
            <a:r>
              <a:t>+4.5% vs PY</a:t>
            </a:r>
          </a:p>
          <a:p>
            <a:pPr>
              <a:spcBef>
                <a:spcPts val="1800"/>
              </a:spcBef>
              <a:defRPr sz="1000">
                <a:solidFill>
                  <a:srgbClr val="1E293B"/>
                </a:solidFill>
              </a:defRPr>
            </a:pPr>
            <a:r>
              <a:t>Strong price realization across top 5 retail markets</a:t>
            </a:r>
          </a:p>
        </p:txBody>
      </p:sp>
      <p:sp>
        <p:nvSpPr>
          <p:cNvPr id="11" name="Rounded Rectangle 10"/>
          <p:cNvSpPr/>
          <p:nvPr/>
        </p:nvSpPr>
        <p:spPr>
          <a:xfrm>
            <a:off x="2926080" y="1645920"/>
            <a:ext cx="2011680"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1828800"/>
            <a:ext cx="1737360" cy="3749039"/>
          </a:xfrm>
          <a:prstGeom prst="rect">
            <a:avLst/>
          </a:prstGeom>
          <a:noFill/>
        </p:spPr>
        <p:txBody>
          <a:bodyPr wrap="square">
            <a:spAutoFit/>
          </a:bodyPr>
          <a:lstStyle/>
          <a:p>
            <a:pPr>
              <a:defRPr sz="1100" b="1">
                <a:solidFill>
                  <a:srgbClr val="64748B"/>
                </a:solidFill>
              </a:defRPr>
            </a:pPr>
            <a:r>
              <a:t>Market Share</a:t>
            </a:r>
          </a:p>
          <a:p>
            <a:pPr>
              <a:spcBef>
                <a:spcPts val="1400"/>
              </a:spcBef>
              <a:defRPr sz="2400" b="1">
                <a:solidFill>
                  <a:srgbClr val="0B2545"/>
                </a:solidFill>
              </a:defRPr>
            </a:pPr>
            <a:r>
              <a:t>23.4%</a:t>
            </a:r>
          </a:p>
          <a:p>
            <a:pPr>
              <a:spcBef>
                <a:spcPts val="600"/>
              </a:spcBef>
              <a:defRPr sz="1300" b="1">
                <a:solidFill>
                  <a:srgbClr val="10955D"/>
                </a:solidFill>
              </a:defRPr>
            </a:pPr>
            <a:r>
              <a:t>+0.5 pts</a:t>
            </a:r>
          </a:p>
          <a:p>
            <a:pPr>
              <a:spcBef>
                <a:spcPts val="1800"/>
              </a:spcBef>
              <a:defRPr sz="1000">
                <a:solidFill>
                  <a:srgbClr val="1E293B"/>
                </a:solidFill>
              </a:defRPr>
            </a:pPr>
            <a:r>
              <a:t>Gains in UK &amp; Germany pasta &amp; ready-to-heat rice</a:t>
            </a:r>
          </a:p>
        </p:txBody>
      </p:sp>
      <p:sp>
        <p:nvSpPr>
          <p:cNvPr id="13" name="Rounded Rectangle 12"/>
          <p:cNvSpPr/>
          <p:nvPr/>
        </p:nvSpPr>
        <p:spPr>
          <a:xfrm>
            <a:off x="5120640" y="1645920"/>
            <a:ext cx="2011680"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1828800"/>
            <a:ext cx="1737360" cy="3749039"/>
          </a:xfrm>
          <a:prstGeom prst="rect">
            <a:avLst/>
          </a:prstGeom>
          <a:noFill/>
        </p:spPr>
        <p:txBody>
          <a:bodyPr wrap="square">
            <a:spAutoFit/>
          </a:bodyPr>
          <a:lstStyle/>
          <a:p>
            <a:pPr>
              <a:defRPr sz="1100" b="1">
                <a:solidFill>
                  <a:srgbClr val="64748B"/>
                </a:solidFill>
              </a:defRPr>
            </a:pPr>
            <a:r>
              <a:t>Volume Ingested</a:t>
            </a:r>
          </a:p>
          <a:p>
            <a:pPr>
              <a:spcBef>
                <a:spcPts val="1400"/>
              </a:spcBef>
              <a:defRPr sz="2400" b="1">
                <a:solidFill>
                  <a:srgbClr val="0B2545"/>
                </a:solidFill>
              </a:defRPr>
            </a:pPr>
            <a:r>
              <a:t>477.2 kt</a:t>
            </a:r>
          </a:p>
          <a:p>
            <a:pPr>
              <a:spcBef>
                <a:spcPts val="600"/>
              </a:spcBef>
              <a:defRPr sz="1300" b="1">
                <a:solidFill>
                  <a:srgbClr val="10955D"/>
                </a:solidFill>
              </a:defRPr>
            </a:pPr>
            <a:r>
              <a:t>+2.6% vs PY</a:t>
            </a:r>
          </a:p>
          <a:p>
            <a:pPr>
              <a:spcBef>
                <a:spcPts val="1800"/>
              </a:spcBef>
              <a:defRPr sz="1000">
                <a:solidFill>
                  <a:srgbClr val="1E293B"/>
                </a:solidFill>
              </a:defRPr>
            </a:pPr>
            <a:r>
              <a:t>Supply chain stabilization; manufacturing rebound</a:t>
            </a:r>
          </a:p>
        </p:txBody>
      </p:sp>
      <p:sp>
        <p:nvSpPr>
          <p:cNvPr id="15" name="Rounded Rectangle 14"/>
          <p:cNvSpPr/>
          <p:nvPr/>
        </p:nvSpPr>
        <p:spPr>
          <a:xfrm>
            <a:off x="7315199" y="1645920"/>
            <a:ext cx="2011680"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59" y="1828800"/>
            <a:ext cx="1737360" cy="3749039"/>
          </a:xfrm>
          <a:prstGeom prst="rect">
            <a:avLst/>
          </a:prstGeom>
          <a:noFill/>
        </p:spPr>
        <p:txBody>
          <a:bodyPr wrap="square">
            <a:spAutoFit/>
          </a:bodyPr>
          <a:lstStyle/>
          <a:p>
            <a:pPr>
              <a:defRPr sz="1100" b="1">
                <a:solidFill>
                  <a:srgbClr val="64748B"/>
                </a:solidFill>
              </a:defRPr>
            </a:pPr>
            <a:r>
              <a:t>Weighted Distribution</a:t>
            </a:r>
          </a:p>
          <a:p>
            <a:pPr>
              <a:spcBef>
                <a:spcPts val="1400"/>
              </a:spcBef>
              <a:defRPr sz="2400" b="1">
                <a:solidFill>
                  <a:srgbClr val="0B2545"/>
                </a:solidFill>
              </a:defRPr>
            </a:pPr>
            <a:r>
              <a:t>88.3%</a:t>
            </a:r>
          </a:p>
          <a:p>
            <a:pPr>
              <a:spcBef>
                <a:spcPts val="600"/>
              </a:spcBef>
              <a:defRPr sz="1300" b="1">
                <a:solidFill>
                  <a:srgbClr val="10955D"/>
                </a:solidFill>
              </a:defRPr>
            </a:pPr>
            <a:r>
              <a:t>+2.2 pts</a:t>
            </a:r>
          </a:p>
          <a:p>
            <a:pPr>
              <a:spcBef>
                <a:spcPts val="1800"/>
              </a:spcBef>
              <a:defRPr sz="1000">
                <a:solidFill>
                  <a:srgbClr val="1E293B"/>
                </a:solidFill>
              </a:defRPr>
            </a:pPr>
            <a:r>
              <a:t>Expanded listings across discounters &amp; tier-1 supermarkets</a:t>
            </a:r>
          </a:p>
        </p:txBody>
      </p:sp>
      <p:sp>
        <p:nvSpPr>
          <p:cNvPr id="17" name="Rounded Rectangle 16"/>
          <p:cNvSpPr/>
          <p:nvPr/>
        </p:nvSpPr>
        <p:spPr>
          <a:xfrm>
            <a:off x="9509760" y="1645920"/>
            <a:ext cx="2011680"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6920" y="1828800"/>
            <a:ext cx="1737360" cy="3749039"/>
          </a:xfrm>
          <a:prstGeom prst="rect">
            <a:avLst/>
          </a:prstGeom>
          <a:noFill/>
        </p:spPr>
        <p:txBody>
          <a:bodyPr wrap="square">
            <a:spAutoFit/>
          </a:bodyPr>
          <a:lstStyle/>
          <a:p>
            <a:pPr>
              <a:defRPr sz="1100" b="1">
                <a:solidFill>
                  <a:srgbClr val="64748B"/>
                </a:solidFill>
              </a:defRPr>
            </a:pPr>
            <a:r>
              <a:t>Household Penetration</a:t>
            </a:r>
          </a:p>
          <a:p>
            <a:pPr>
              <a:spcBef>
                <a:spcPts val="1400"/>
              </a:spcBef>
              <a:defRPr sz="2400" b="1">
                <a:solidFill>
                  <a:srgbClr val="0B2545"/>
                </a:solidFill>
              </a:defRPr>
            </a:pPr>
            <a:r>
              <a:t>41.2%</a:t>
            </a:r>
          </a:p>
          <a:p>
            <a:pPr>
              <a:spcBef>
                <a:spcPts val="600"/>
              </a:spcBef>
              <a:defRPr sz="1300" b="1">
                <a:solidFill>
                  <a:srgbClr val="10955D"/>
                </a:solidFill>
              </a:defRPr>
            </a:pPr>
            <a:r>
              <a:t>+0.7 pts</a:t>
            </a:r>
          </a:p>
          <a:p>
            <a:pPr>
              <a:spcBef>
                <a:spcPts val="1800"/>
              </a:spcBef>
              <a:defRPr sz="1000">
                <a:solidFill>
                  <a:srgbClr val="1E293B"/>
                </a:solidFill>
              </a:defRPr>
            </a:pPr>
            <a:r>
              <a:t>38.4M active European households buying Mars brands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UNITED KINGDOM</a:t>
            </a:r>
          </a:p>
          <a:p>
            <a:pPr>
              <a:spcBef>
                <a:spcPts val="800"/>
              </a:spcBef>
              <a:defRPr sz="3200" b="1">
                <a:solidFill>
                  <a:srgbClr val="FFFFFF"/>
                </a:solidFill>
              </a:defRPr>
            </a:pPr>
            <a:r>
              <a:t>United Kingdom Strategic Performance Review</a:t>
            </a:r>
          </a:p>
          <a:p>
            <a:pPr>
              <a:spcBef>
                <a:spcPts val="1400"/>
              </a:spcBef>
              <a:defRPr sz="1400">
                <a:solidFill>
                  <a:srgbClr val="94A3B8"/>
                </a:solidFill>
              </a:defRPr>
            </a:pPr>
            <a:r>
              <a:t>Lead Focus Brand: Dolmio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4 of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United Kingdom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UK</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United Kingdom,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United Kingdom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Dolmio</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United Kingdom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United Kingdom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8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United Kingdom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9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United Kingdom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(Dolmio plant-based and high-protein variants) to capture incremental margin.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United Kingdom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10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GERMANY</a:t>
            </a:r>
          </a:p>
          <a:p>
            <a:pPr>
              <a:spcBef>
                <a:spcPts val="800"/>
              </a:spcBef>
              <a:defRPr sz="3200" b="1">
                <a:solidFill>
                  <a:srgbClr val="FFFFFF"/>
                </a:solidFill>
              </a:defRPr>
            </a:pPr>
            <a:r>
              <a:t>Germany Strategic Performance Review</a:t>
            </a:r>
          </a:p>
          <a:p>
            <a:pPr>
              <a:spcBef>
                <a:spcPts val="1400"/>
              </a:spcBef>
              <a:defRPr sz="1400">
                <a:solidFill>
                  <a:srgbClr val="94A3B8"/>
                </a:solidFill>
              </a:defRPr>
            </a:pPr>
            <a:r>
              <a:t>Lead Focus Brand: Ben's Original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11 of 80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Germany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DE</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12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Germany,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Germany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13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Ben's Original</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Germany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(BEN'S ORIGINAL)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14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Germany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15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Germany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(BEN'S ORIGINAL)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16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Germany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(Ben's Original plant-based and high-protein variants) to capture incremental margin.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Germany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17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FRANCE</a:t>
            </a:r>
          </a:p>
          <a:p>
            <a:pPr>
              <a:spcBef>
                <a:spcPts val="800"/>
              </a:spcBef>
              <a:defRPr sz="3200" b="1">
                <a:solidFill>
                  <a:srgbClr val="FFFFFF"/>
                </a:solidFill>
              </a:defRPr>
            </a:pPr>
            <a:r>
              <a:t>France Strategic Performance Review</a:t>
            </a:r>
          </a:p>
          <a:p>
            <a:pPr>
              <a:spcBef>
                <a:spcPts val="1400"/>
              </a:spcBef>
              <a:defRPr sz="1400">
                <a:solidFill>
                  <a:srgbClr val="94A3B8"/>
                </a:solidFill>
              </a:defRPr>
            </a:pPr>
            <a:r>
              <a:t>Lead Focus Brand: Suzi Wan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18 of 80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France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FR</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19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France,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France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20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Suzi Wan</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France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(SUZI WAN)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21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France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22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France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(SUZI WAN)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23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France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(Suzi Wan plant-based and high-protein variants) to capture incremental margin.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France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24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ITALY</a:t>
            </a:r>
          </a:p>
          <a:p>
            <a:pPr>
              <a:spcBef>
                <a:spcPts val="800"/>
              </a:spcBef>
              <a:defRPr sz="3200" b="1">
                <a:solidFill>
                  <a:srgbClr val="FFFFFF"/>
                </a:solidFill>
              </a:defRPr>
            </a:pPr>
            <a:r>
              <a:t>Italy Strategic Performance Review</a:t>
            </a:r>
          </a:p>
          <a:p>
            <a:pPr>
              <a:spcBef>
                <a:spcPts val="1400"/>
              </a:spcBef>
              <a:defRPr sz="1400">
                <a:solidFill>
                  <a:srgbClr val="94A3B8"/>
                </a:solidFill>
              </a:defRPr>
            </a:pPr>
            <a:r>
              <a:t>Lead Focus Brand: Dolmio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25 of 80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Italy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IT</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26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Italy,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Italy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27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Dolmio</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Italy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28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Italy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29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Italy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30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Italy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(Dolmio plant-based and high-protein variants) to capture incremental margin.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Italy</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31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SPAIN</a:t>
            </a:r>
          </a:p>
          <a:p>
            <a:pPr>
              <a:spcBef>
                <a:spcPts val="800"/>
              </a:spcBef>
              <a:defRPr sz="3200" b="1">
                <a:solidFill>
                  <a:srgbClr val="FFFFFF"/>
                </a:solidFill>
              </a:defRPr>
            </a:pPr>
            <a:r>
              <a:t>Spain Strategic Performance Review</a:t>
            </a:r>
          </a:p>
          <a:p>
            <a:pPr>
              <a:spcBef>
                <a:spcPts val="1400"/>
              </a:spcBef>
              <a:defRPr sz="1400">
                <a:solidFill>
                  <a:srgbClr val="94A3B8"/>
                </a:solidFill>
              </a:defRPr>
            </a:pPr>
            <a:r>
              <a:t>Lead Focus Brand: Ben's Original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32 of 80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Spain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ES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33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Spain,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Spain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34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Ben's Original</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Spain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(BEN'S ORIGINAL)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35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Spain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36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Spain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(BEN'S ORIGINAL)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37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Spain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(Ben's Original plant-based and high-protein variants) to capture incremental margin.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Spain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38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NETHERLANDS</a:t>
            </a:r>
          </a:p>
          <a:p>
            <a:pPr>
              <a:spcBef>
                <a:spcPts val="800"/>
              </a:spcBef>
              <a:defRPr sz="3200" b="1">
                <a:solidFill>
                  <a:srgbClr val="FFFFFF"/>
                </a:solidFill>
              </a:defRPr>
            </a:pPr>
            <a:r>
              <a:t>Netherlands Strategic Performance Review</a:t>
            </a:r>
          </a:p>
          <a:p>
            <a:pPr>
              <a:spcBef>
                <a:spcPts val="1400"/>
              </a:spcBef>
              <a:defRPr sz="1400">
                <a:solidFill>
                  <a:srgbClr val="94A3B8"/>
                </a:solidFill>
              </a:defRPr>
            </a:pPr>
            <a:r>
              <a:t>Lead Focus Brand: Dolmio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39 of 80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Netherlands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NL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40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Netherlands,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Netherlands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41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Dolmio</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Netherlands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42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Netherlands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43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Netherlands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44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Netherlands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(Dolmio plant-based and high-protein variants) to capture incremental margin.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Netherlands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45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POLAND</a:t>
            </a:r>
          </a:p>
          <a:p>
            <a:pPr>
              <a:spcBef>
                <a:spcPts val="800"/>
              </a:spcBef>
              <a:defRPr sz="3200" b="1">
                <a:solidFill>
                  <a:srgbClr val="FFFFFF"/>
                </a:solidFill>
              </a:defRPr>
            </a:pPr>
            <a:r>
              <a:t>Poland Strategic Performance Review</a:t>
            </a:r>
          </a:p>
          <a:p>
            <a:pPr>
              <a:spcBef>
                <a:spcPts val="1400"/>
              </a:spcBef>
              <a:defRPr sz="1400">
                <a:solidFill>
                  <a:srgbClr val="94A3B8"/>
                </a:solidFill>
              </a:defRPr>
            </a:pPr>
            <a:r>
              <a:t>Lead Focus Brand: MasterFoods | Currency: zł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46 of 80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Poland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PL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47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Poland,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Poland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(ZŁ)</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48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(zł)</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zł420M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zł310M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zł145M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zł62M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Poland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(MASTERFOODS)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49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Poland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50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zł14.2M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zł22.8M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zł8.4M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zł3.5M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Poland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(MASTERFOODS)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51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Poland grew +3.9% in the latest 12 wks (zł106.7M)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(MasterFoods plant-based and high-protein variants) to capture incremental margin.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Poland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52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BELGIUM</a:t>
            </a:r>
          </a:p>
          <a:p>
            <a:pPr>
              <a:spcBef>
                <a:spcPts val="800"/>
              </a:spcBef>
              <a:defRPr sz="3200" b="1">
                <a:solidFill>
                  <a:srgbClr val="FFFFFF"/>
                </a:solidFill>
              </a:defRPr>
            </a:pPr>
            <a:r>
              <a:t>Belgium Strategic Performance Review</a:t>
            </a:r>
          </a:p>
          <a:p>
            <a:pPr>
              <a:spcBef>
                <a:spcPts val="1400"/>
              </a:spcBef>
              <a:defRPr sz="1400">
                <a:solidFill>
                  <a:srgbClr val="94A3B8"/>
                </a:solidFill>
              </a:defRPr>
            </a:pPr>
            <a:r>
              <a:t>Lead Focus Brand: Ben's Original | Currency: €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53 of 80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Belgium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BE</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54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Belgium,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Belgium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55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Ben's Original</a:t>
                      </a:r>
                    </a:p>
                  </a:txBody>
                  <a:tcPr>
                    <a:solidFill>
                      <a:srgbClr val="FFFFFF"/>
                    </a:solidFill>
                  </a:tcPr>
                </a:tc>
                <a:tc>
                  <a:txBody>
                    <a:bodyPr/>
                    <a:lstStyle/>
                    <a:p>
                      <a:pPr algn="ctr">
                        <a:defRPr sz="1050">
                          <a:solidFill>
                            <a:srgbClr val="1E293B"/>
                          </a:solidFill>
                        </a:defRPr>
                      </a:pPr>
                      <a:r>
                        <a:t>€420M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Belgium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(BEN'S ORIGINAL)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56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Belgium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57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Belgium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(BEN'S ORIGINAL)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58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Belgium grew +3.9% in the latest 12 wks (€106.7M)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(Ben's Original plant-based and high-protein variants) to capture incremental margin.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Belgium</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59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SWEDEN</a:t>
            </a:r>
          </a:p>
          <a:p>
            <a:pPr>
              <a:spcBef>
                <a:spcPts val="800"/>
              </a:spcBef>
              <a:defRPr sz="3200" b="1">
                <a:solidFill>
                  <a:srgbClr val="FFFFFF"/>
                </a:solidFill>
              </a:defRPr>
            </a:pPr>
            <a:r>
              <a:t>Sweden Strategic Performance Review</a:t>
            </a:r>
          </a:p>
          <a:p>
            <a:pPr>
              <a:spcBef>
                <a:spcPts val="1400"/>
              </a:spcBef>
              <a:defRPr sz="1400">
                <a:solidFill>
                  <a:srgbClr val="94A3B8"/>
                </a:solidFill>
              </a:defRPr>
            </a:pPr>
            <a:r>
              <a:t>Lead Focus Brand: Dolmio | Currency: kr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60 of 80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Sweden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SE</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61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Sweden,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Sweden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(KR)</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62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(kr)</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Dolmio</a:t>
                      </a:r>
                    </a:p>
                  </a:txBody>
                  <a:tcPr>
                    <a:solidFill>
                      <a:srgbClr val="FFFFFF"/>
                    </a:solidFill>
                  </a:tcPr>
                </a:tc>
                <a:tc>
                  <a:txBody>
                    <a:bodyPr/>
                    <a:lstStyle/>
                    <a:p>
                      <a:pPr algn="ctr">
                        <a:defRPr sz="1050">
                          <a:solidFill>
                            <a:srgbClr val="1E293B"/>
                          </a:solidFill>
                        </a:defRPr>
                      </a:pPr>
                      <a:r>
                        <a:t>kr420M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kr310M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kr145M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kr62M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Sweden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63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Sweden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64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kr14.2M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kr22.8M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kr8.4M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kr3.5M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Sweden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(DOLMIO)</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65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Sweden grew +3.9% in the latest 12 wks (kr106.7M)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(Dolmio plant-based and high-protein variants) to capture incremental margin.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Sweden</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66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601200" cy="2560320"/>
          </a:xfrm>
          <a:prstGeom prst="rect">
            <a:avLst/>
          </a:prstGeom>
          <a:noFill/>
        </p:spPr>
        <p:txBody>
          <a:bodyPr wrap="none">
            <a:spAutoFit/>
          </a:bodyPr>
          <a:lstStyle/>
          <a:p>
            <a:pPr>
              <a:defRPr sz="1600" b="1">
                <a:solidFill>
                  <a:srgbClr val="2563EB"/>
                </a:solidFill>
              </a:defRPr>
            </a:pPr>
            <a:r>
              <a:t>MARKET FOCUS: SWITZERLAND</a:t>
            </a:r>
          </a:p>
          <a:p>
            <a:pPr>
              <a:spcBef>
                <a:spcPts val="800"/>
              </a:spcBef>
              <a:defRPr sz="3200" b="1">
                <a:solidFill>
                  <a:srgbClr val="FFFFFF"/>
                </a:solidFill>
              </a:defRPr>
            </a:pPr>
            <a:r>
              <a:t>Switzerland Strategic Performance Review</a:t>
            </a:r>
          </a:p>
          <a:p>
            <a:pPr>
              <a:spcBef>
                <a:spcPts val="1400"/>
              </a:spcBef>
              <a:defRPr sz="1400">
                <a:solidFill>
                  <a:srgbClr val="94A3B8"/>
                </a:solidFill>
              </a:defRPr>
            </a:pPr>
            <a:r>
              <a:t>Lead Focus Brand: Seeds of Change | Currency: CHF | Governance Certified</a:t>
            </a:r>
          </a:p>
        </p:txBody>
      </p:sp>
      <p:sp>
        <p:nvSpPr>
          <p:cNvPr id="4" name="TextBox 3"/>
          <p:cNvSpPr txBox="1"/>
          <p:nvPr/>
        </p:nvSpPr>
        <p:spPr>
          <a:xfrm>
            <a:off x="1097280" y="6217920"/>
            <a:ext cx="9144000" cy="365760"/>
          </a:xfrm>
          <a:prstGeom prst="rect">
            <a:avLst/>
          </a:prstGeom>
          <a:noFill/>
        </p:spPr>
        <p:txBody>
          <a:bodyPr wrap="none">
            <a:spAutoFit/>
          </a:bodyPr>
          <a:lstStyle/>
          <a:p>
            <a:pPr>
              <a:defRPr sz="1000">
                <a:solidFill>
                  <a:srgbClr val="94A3B8"/>
                </a:solidFill>
              </a:defRPr>
            </a:pPr>
            <a:r>
              <a:t>MARS Food &amp; Nutrition Review • Slide 67 of 80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 F&amp;N EU Strategic Cells Overview — Switzerland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DETAILED SEGMENT PERFORMANCE MATRIX FOR CH</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68 of 80</a:t>
            </a:r>
          </a:p>
        </p:txBody>
      </p:sp>
      <p:graphicFrame>
        <p:nvGraphicFramePr>
          <p:cNvPr id="9" name="Table 8"/>
          <p:cNvGraphicFramePr>
            <a:graphicFrameLocks noGrp="1"/>
          </p:cNvGraphicFramePr>
          <p:nvPr/>
        </p:nvGraphicFramePr>
        <p:xfrm>
          <a:off x="731520" y="1463040"/>
          <a:ext cx="7132320" cy="4389120"/>
        </p:xfrm>
        <a:graphic>
          <a:graphicData uri="http://schemas.openxmlformats.org/drawingml/2006/table">
            <a:tbl>
              <a:tblPr firstRow="1" bandRow="1">
                <a:tableStyleId>{5C22544A-7EE6-4342-B048-85BDC9FD1C3A}</a:tableStyleId>
              </a:tblPr>
              <a:tblGrid>
                <a:gridCol w="2011680"/>
                <a:gridCol w="1280160"/>
                <a:gridCol w="1280160"/>
                <a:gridCol w="1280160"/>
                <a:gridCol w="1280160"/>
              </a:tblGrid>
              <a:tr h="877824">
                <a:tc>
                  <a:txBody>
                    <a:bodyPr/>
                    <a:lstStyle/>
                    <a:p/>
                  </a:txBody>
                  <a:tcPr anchor="ctr"/>
                </a:tc>
                <a:tc>
                  <a:txBody>
                    <a:bodyPr/>
                    <a:lstStyle/>
                    <a:p>
                      <a:pPr algn="ctr">
                        <a:defRPr b="1" sz="1100">
                          <a:solidFill>
                            <a:srgbClr val="FFFFFF"/>
                          </a:solidFill>
                        </a:defRPr>
                      </a:pPr>
                      <a:r>
                        <a:t>SEED</a:t>
                      </a:r>
                    </a:p>
                  </a:txBody>
                  <a:tcPr anchor="ctr">
                    <a:solidFill>
                      <a:srgbClr val="D96B27"/>
                    </a:solidFill>
                  </a:tcPr>
                </a:tc>
                <a:tc>
                  <a:txBody>
                    <a:bodyPr/>
                    <a:lstStyle/>
                    <a:p>
                      <a:pPr algn="ctr">
                        <a:defRPr b="1" sz="1100">
                          <a:solidFill>
                            <a:srgbClr val="FFFFFF"/>
                          </a:solidFill>
                        </a:defRPr>
                      </a:pPr>
                      <a:r>
                        <a:t>GROWTH</a:t>
                      </a:r>
                    </a:p>
                    <a:p>
                      <a:r>
                        <a:t>ENGINE</a:t>
                      </a:r>
                    </a:p>
                  </a:txBody>
                  <a:tcPr anchor="ctr">
                    <a:solidFill>
                      <a:srgbClr val="2563EB"/>
                    </a:solidFill>
                  </a:tcPr>
                </a:tc>
                <a:tc>
                  <a:txBody>
                    <a:bodyPr/>
                    <a:lstStyle/>
                    <a:p>
                      <a:pPr algn="ctr">
                        <a:defRPr b="1" sz="1100">
                          <a:solidFill>
                            <a:srgbClr val="FFFFFF"/>
                          </a:solidFill>
                        </a:defRPr>
                      </a:pPr>
                      <a:r>
                        <a:t>FUEL FOR</a:t>
                      </a:r>
                    </a:p>
                    <a:p>
                      <a:r>
                        <a:t>GROWTH</a:t>
                      </a:r>
                    </a:p>
                  </a:txBody>
                  <a:tcPr anchor="ctr">
                    <a:solidFill>
                      <a:srgbClr val="0D9488"/>
                    </a:solidFill>
                  </a:tcPr>
                </a:tc>
                <a:tc>
                  <a:txBody>
                    <a:bodyPr/>
                    <a:lstStyle/>
                    <a:p>
                      <a:pPr algn="ctr">
                        <a:defRPr b="1" sz="1100">
                          <a:solidFill>
                            <a:srgbClr val="FFFFFF"/>
                          </a:solidFill>
                        </a:defRPr>
                      </a:pPr>
                      <a:r>
                        <a:t>HARVEST</a:t>
                      </a:r>
                    </a:p>
                  </a:txBody>
                  <a:tcPr anchor="ctr">
                    <a:solidFill>
                      <a:srgbClr val="DC2626"/>
                    </a:solidFill>
                  </a:tcPr>
                </a:tc>
              </a:tr>
              <a:tr h="877824">
                <a:tc>
                  <a:txBody>
                    <a:bodyPr/>
                    <a:lstStyle/>
                    <a:p>
                      <a:pPr>
                        <a:defRPr sz="1000" b="1">
                          <a:solidFill>
                            <a:srgbClr val="1E293B"/>
                          </a:solidFill>
                        </a:defRPr>
                      </a:pPr>
                      <a:r>
                        <a:t>% NSV Growth YOY</a:t>
                      </a:r>
                    </a:p>
                    <a:p>
                      <a:r>
                        <a:t>(vs. Archetype)</a:t>
                      </a:r>
                    </a:p>
                  </a:txBody>
                  <a:tcPr anchor="ctr">
                    <a:solidFill>
                      <a:srgbClr val="EFF6FF"/>
                    </a:solidFill>
                  </a:tcPr>
                </a:tc>
                <a:tc>
                  <a:txBody>
                    <a:bodyPr/>
                    <a:lstStyle/>
                    <a:p>
                      <a:pPr algn="ctr">
                        <a:defRPr sz="1000">
                          <a:solidFill>
                            <a:srgbClr val="1E293B"/>
                          </a:solidFill>
                        </a:defRPr>
                      </a:pPr>
                      <a:r>
                        <a:t>&gt;10%</a:t>
                      </a:r>
                    </a:p>
                  </a:txBody>
                  <a:tcPr anchor="ctr">
                    <a:solidFill>
                      <a:srgbClr val="FFFFFF"/>
                    </a:solidFill>
                  </a:tcPr>
                </a:tc>
                <a:tc>
                  <a:txBody>
                    <a:bodyPr/>
                    <a:lstStyle/>
                    <a:p>
                      <a:pPr algn="ctr">
                        <a:defRPr sz="1000" b="1">
                          <a:solidFill>
                            <a:srgbClr val="DC2626"/>
                          </a:solidFill>
                        </a:defRPr>
                      </a:pPr>
                      <a:r>
                        <a:t>4-10%</a:t>
                      </a:r>
                    </a:p>
                  </a:txBody>
                  <a:tcPr anchor="ctr">
                    <a:solidFill>
                      <a:srgbClr val="FFFFFF"/>
                    </a:solidFill>
                  </a:tcPr>
                </a:tc>
                <a:tc>
                  <a:txBody>
                    <a:bodyPr/>
                    <a:lstStyle/>
                    <a:p>
                      <a:pPr algn="ctr">
                        <a:defRPr sz="1000" b="1">
                          <a:solidFill>
                            <a:srgbClr val="DC2626"/>
                          </a:solidFill>
                        </a:defRPr>
                      </a:pPr>
                      <a:r>
                        <a:t>2-4%</a:t>
                      </a:r>
                    </a:p>
                  </a:txBody>
                  <a:tcPr anchor="ctr">
                    <a:solidFill>
                      <a:srgbClr val="FFFFFF"/>
                    </a:solidFill>
                  </a:tcPr>
                </a:tc>
                <a:tc>
                  <a:txBody>
                    <a:bodyPr/>
                    <a:lstStyle/>
                    <a:p>
                      <a:pPr algn="ctr">
                        <a:defRPr sz="1000">
                          <a:solidFill>
                            <a:srgbClr val="1E293B"/>
                          </a:solidFill>
                        </a:defRPr>
                      </a:pPr>
                      <a:r>
                        <a:t>None / Flat</a:t>
                      </a:r>
                    </a:p>
                  </a:txBody>
                  <a:tcPr anchor="ctr">
                    <a:solidFill>
                      <a:srgbClr val="FFFFFF"/>
                    </a:solidFill>
                  </a:tcPr>
                </a:tc>
              </a:tr>
              <a:tr h="877824">
                <a:tc>
                  <a:txBody>
                    <a:bodyPr/>
                    <a:lstStyle/>
                    <a:p>
                      <a:pPr>
                        <a:defRPr sz="1000" b="1">
                          <a:solidFill>
                            <a:srgbClr val="1E293B"/>
                          </a:solidFill>
                        </a:defRPr>
                      </a:pPr>
                      <a:r>
                        <a:t>2 Year CAGR % NSV</a:t>
                      </a:r>
                    </a:p>
                    <a:p>
                      <a:r>
                        <a:t>(vs. Archetype)</a:t>
                      </a:r>
                    </a:p>
                  </a:txBody>
                  <a:tcPr anchor="ctr">
                    <a:solidFill>
                      <a:srgbClr val="EFF6FF"/>
                    </a:solidFill>
                  </a:tcPr>
                </a:tc>
                <a:tc>
                  <a:txBody>
                    <a:bodyPr/>
                    <a:lstStyle/>
                    <a:p>
                      <a:pPr algn="ctr">
                        <a:defRPr sz="1000" b="1">
                          <a:solidFill>
                            <a:srgbClr val="10955D"/>
                          </a:solidFill>
                        </a:defRPr>
                      </a:pPr>
                      <a:r>
                        <a:t>+15.8%</a:t>
                      </a:r>
                    </a:p>
                  </a:txBody>
                  <a:tcPr anchor="ctr">
                    <a:solidFill>
                      <a:srgbClr val="FFFFFF"/>
                    </a:solidFill>
                  </a:tcPr>
                </a:tc>
                <a:tc>
                  <a:txBody>
                    <a:bodyPr/>
                    <a:lstStyle/>
                    <a:p>
                      <a:pPr algn="ctr">
                        <a:defRPr sz="1000" b="1">
                          <a:solidFill>
                            <a:srgbClr val="10955D"/>
                          </a:solidFill>
                        </a:defRPr>
                      </a:pPr>
                      <a:r>
                        <a:t>+8.4%</a:t>
                      </a:r>
                    </a:p>
                  </a:txBody>
                  <a:tcPr anchor="ctr">
                    <a:solidFill>
                      <a:srgbClr val="FFFFFF"/>
                    </a:solidFill>
                  </a:tcPr>
                </a:tc>
                <a:tc>
                  <a:txBody>
                    <a:bodyPr/>
                    <a:lstStyle/>
                    <a:p>
                      <a:pPr algn="ctr">
                        <a:defRPr sz="1000" b="1">
                          <a:solidFill>
                            <a:srgbClr val="10955D"/>
                          </a:solidFill>
                        </a:defRPr>
                      </a:pPr>
                      <a:r>
                        <a:t>+3.2%</a:t>
                      </a:r>
                    </a:p>
                  </a:txBody>
                  <a:tcPr anchor="ctr">
                    <a:solidFill>
                      <a:srgbClr val="FFFFFF"/>
                    </a:solidFill>
                  </a:tcPr>
                </a:tc>
                <a:tc>
                  <a:txBody>
                    <a:bodyPr/>
                    <a:lstStyle/>
                    <a:p>
                      <a:pPr algn="ctr">
                        <a:defRPr sz="1000" b="1">
                          <a:solidFill>
                            <a:srgbClr val="DC2626"/>
                          </a:solidFill>
                        </a:defRPr>
                      </a:pPr>
                      <a:r>
                        <a:t>-0.9%</a:t>
                      </a:r>
                    </a:p>
                  </a:txBody>
                  <a:tcPr anchor="ctr">
                    <a:solidFill>
                      <a:srgbClr val="FFFFFF"/>
                    </a:solidFill>
                  </a:tcPr>
                </a:tc>
              </a:tr>
              <a:tr h="877824">
                <a:tc>
                  <a:txBody>
                    <a:bodyPr/>
                    <a:lstStyle/>
                    <a:p>
                      <a:pPr>
                        <a:defRPr sz="1000" b="1">
                          <a:solidFill>
                            <a:srgbClr val="1E293B"/>
                          </a:solidFill>
                        </a:defRPr>
                      </a:pPr>
                      <a:r>
                        <a:t>Promo investment</a:t>
                      </a:r>
                    </a:p>
                    <a:p>
                      <a:r>
                        <a:t>TLI / QGI %</a:t>
                      </a:r>
                    </a:p>
                  </a:txBody>
                  <a:tcPr anchor="ctr">
                    <a:solidFill>
                      <a:srgbClr val="EFF6FF"/>
                    </a:solidFill>
                  </a:tcPr>
                </a:tc>
                <a:tc>
                  <a:txBody>
                    <a:bodyPr/>
                    <a:lstStyle/>
                    <a:p>
                      <a:pPr algn="ctr">
                        <a:defRPr sz="1000">
                          <a:solidFill>
                            <a:srgbClr val="1E293B"/>
                          </a:solidFill>
                        </a:defRPr>
                      </a:pPr>
                      <a:r>
                        <a:t>105 / 109</a:t>
                      </a:r>
                    </a:p>
                  </a:txBody>
                  <a:tcPr anchor="ctr">
                    <a:solidFill>
                      <a:srgbClr val="FFFFFF"/>
                    </a:solidFill>
                  </a:tcPr>
                </a:tc>
                <a:tc>
                  <a:txBody>
                    <a:bodyPr/>
                    <a:lstStyle/>
                    <a:p>
                      <a:pPr algn="ctr">
                        <a:defRPr sz="1000">
                          <a:solidFill>
                            <a:srgbClr val="1E293B"/>
                          </a:solidFill>
                        </a:defRPr>
                      </a:pPr>
                      <a:r>
                        <a:t>99 / 103</a:t>
                      </a:r>
                    </a:p>
                  </a:txBody>
                  <a:tcPr anchor="ctr">
                    <a:solidFill>
                      <a:srgbClr val="FFFFFF"/>
                    </a:solidFill>
                  </a:tcPr>
                </a:tc>
                <a:tc>
                  <a:txBody>
                    <a:bodyPr/>
                    <a:lstStyle/>
                    <a:p>
                      <a:pPr algn="ctr">
                        <a:defRPr sz="1000">
                          <a:solidFill>
                            <a:srgbClr val="1E293B"/>
                          </a:solidFill>
                        </a:defRPr>
                      </a:pPr>
                      <a:r>
                        <a:t>97 / 100</a:t>
                      </a:r>
                    </a:p>
                  </a:txBody>
                  <a:tcPr anchor="ctr">
                    <a:solidFill>
                      <a:srgbClr val="FFFFFF"/>
                    </a:solidFill>
                  </a:tcPr>
                </a:tc>
                <a:tc>
                  <a:txBody>
                    <a:bodyPr/>
                    <a:lstStyle/>
                    <a:p>
                      <a:pPr algn="ctr">
                        <a:defRPr sz="1000">
                          <a:solidFill>
                            <a:srgbClr val="1E293B"/>
                          </a:solidFill>
                        </a:defRPr>
                      </a:pPr>
                      <a:r>
                        <a:t>93 / 96</a:t>
                      </a:r>
                    </a:p>
                  </a:txBody>
                  <a:tcPr anchor="ctr">
                    <a:solidFill>
                      <a:srgbClr val="FFFFFF"/>
                    </a:solidFill>
                  </a:tcPr>
                </a:tc>
              </a:tr>
              <a:tr h="877824">
                <a:tc>
                  <a:txBody>
                    <a:bodyPr/>
                    <a:lstStyle/>
                    <a:p>
                      <a:pPr>
                        <a:defRPr sz="1000" b="1">
                          <a:solidFill>
                            <a:srgbClr val="1E293B"/>
                          </a:solidFill>
                        </a:defRPr>
                      </a:pPr>
                      <a:r>
                        <a:t>A&amp;CP (%) vs. PY</a:t>
                      </a:r>
                    </a:p>
                    <a:p>
                      <a:r>
                        <a:t>and FY Plan</a:t>
                      </a:r>
                    </a:p>
                  </a:txBody>
                  <a:tcPr anchor="ctr">
                    <a:solidFill>
                      <a:srgbClr val="EFF6FF"/>
                    </a:solidFill>
                  </a:tcPr>
                </a:tc>
                <a:tc>
                  <a:txBody>
                    <a:bodyPr/>
                    <a:lstStyle/>
                    <a:p>
                      <a:pPr algn="ctr">
                        <a:defRPr sz="1000">
                          <a:solidFill>
                            <a:srgbClr val="1E293B"/>
                          </a:solidFill>
                        </a:defRPr>
                      </a:pPr>
                      <a:r>
                        <a:t>+2.6 / +1.4</a:t>
                      </a:r>
                    </a:p>
                  </a:txBody>
                  <a:tcPr anchor="ctr">
                    <a:solidFill>
                      <a:srgbClr val="FFFFFF"/>
                    </a:solidFill>
                  </a:tcPr>
                </a:tc>
                <a:tc>
                  <a:txBody>
                    <a:bodyPr/>
                    <a:lstStyle/>
                    <a:p>
                      <a:pPr algn="ctr">
                        <a:defRPr sz="1000">
                          <a:solidFill>
                            <a:srgbClr val="1E293B"/>
                          </a:solidFill>
                        </a:defRPr>
                      </a:pPr>
                      <a:r>
                        <a:t>+1.1 / +0.5</a:t>
                      </a:r>
                    </a:p>
                  </a:txBody>
                  <a:tcPr anchor="ctr">
                    <a:solidFill>
                      <a:srgbClr val="FFFFFF"/>
                    </a:solidFill>
                  </a:tcPr>
                </a:tc>
                <a:tc>
                  <a:txBody>
                    <a:bodyPr/>
                    <a:lstStyle/>
                    <a:p>
                      <a:pPr algn="ctr">
                        <a:defRPr sz="1000" b="1">
                          <a:solidFill>
                            <a:srgbClr val="DC2626"/>
                          </a:solidFill>
                        </a:defRPr>
                      </a:pPr>
                      <a:r>
                        <a:t>-0.3 / -0.6</a:t>
                      </a:r>
                    </a:p>
                  </a:txBody>
                  <a:tcPr anchor="ctr">
                    <a:solidFill>
                      <a:srgbClr val="FFFFFF"/>
                    </a:solidFill>
                  </a:tcPr>
                </a:tc>
                <a:tc>
                  <a:txBody>
                    <a:bodyPr/>
                    <a:lstStyle/>
                    <a:p>
                      <a:pPr algn="ctr">
                        <a:defRPr sz="1000" b="1">
                          <a:solidFill>
                            <a:srgbClr val="DC2626"/>
                          </a:solidFill>
                        </a:defRPr>
                      </a:pPr>
                      <a:r>
                        <a:t>-1.8 / -1.1</a:t>
                      </a:r>
                    </a:p>
                  </a:txBody>
                  <a:tcPr anchor="ctr">
                    <a:solidFill>
                      <a:srgbClr val="FFFFFF"/>
                    </a:solidFill>
                  </a:tcPr>
                </a:tc>
              </a:tr>
            </a:tbl>
          </a:graphicData>
        </a:graphic>
      </p:graphicFrame>
      <p:sp>
        <p:nvSpPr>
          <p:cNvPr id="10" name="Rounded Rectangle 9"/>
          <p:cNvSpPr/>
          <p:nvPr/>
        </p:nvSpPr>
        <p:spPr>
          <a:xfrm>
            <a:off x="8138160" y="1463040"/>
            <a:ext cx="3322015" cy="438912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2956255" cy="4023360"/>
          </a:xfrm>
          <a:prstGeom prst="rect">
            <a:avLst/>
          </a:prstGeom>
          <a:noFill/>
        </p:spPr>
        <p:txBody>
          <a:bodyPr wrap="square">
            <a:spAutoFit/>
          </a:bodyPr>
          <a:lstStyle/>
          <a:p>
            <a:pPr>
              <a:defRPr sz="1100" b="1">
                <a:solidFill>
                  <a:srgbClr val="10955D"/>
                </a:solidFill>
              </a:defRPr>
            </a:pPr>
            <a:r>
              <a:t>★ AI Insights</a:t>
            </a:r>
            <a:br/>
            <a:r>
              <a:t>STRATEGIC MATRIX ANALYSIS</a:t>
            </a:r>
          </a:p>
          <a:p>
            <a:pPr>
              <a:spcBef>
                <a:spcPts val="1200"/>
              </a:spcBef>
              <a:defRPr sz="1000" b="1">
                <a:solidFill>
                  <a:srgbClr val="0B2545"/>
                </a:solidFill>
              </a:defRPr>
            </a:pPr>
            <a:r>
              <a:t>GROWTH TIERING ALIGNMENT</a:t>
            </a:r>
          </a:p>
          <a:p>
            <a:pPr>
              <a:spcBef>
                <a:spcPts val="300"/>
              </a:spcBef>
              <a:defRPr sz="950">
                <a:solidFill>
                  <a:srgbClr val="1E293B"/>
                </a:solidFill>
              </a:defRPr>
            </a:pPr>
            <a:r>
              <a:t>In Switzerland, Seed delivers &gt;10% NSV growth on outsized A&amp;CP (+2.6 vs PY), while Harvest expands Gross Profit (+2.3) with disciplined zero growth.</a:t>
            </a:r>
          </a:p>
          <a:p>
            <a:pPr>
              <a:spcBef>
                <a:spcPts val="1200"/>
              </a:spcBef>
              <a:defRPr sz="1000" b="1">
                <a:solidFill>
                  <a:srgbClr val="0B2545"/>
                </a:solidFill>
              </a:defRPr>
            </a:pPr>
            <a:r>
              <a:t>MARGIN VS GROWTH TRADE-OFF</a:t>
            </a:r>
          </a:p>
          <a:p>
            <a:pPr>
              <a:spcBef>
                <a:spcPts val="300"/>
              </a:spcBef>
              <a:defRPr sz="950">
                <a:solidFill>
                  <a:srgbClr val="1E293B"/>
                </a:solidFill>
              </a:defRPr>
            </a:pPr>
            <a:r>
              <a:t>Seed is intentionally GP-dilutive (-0.8) as it self-funds innovation. Fuel and Harvest carry the margin, keeping Contribution CAGR positive.</a:t>
            </a:r>
          </a:p>
          <a:p>
            <a:pPr>
              <a:spcBef>
                <a:spcPts val="1200"/>
              </a:spcBef>
              <a:defRPr sz="1000" b="1">
                <a:solidFill>
                  <a:srgbClr val="0B2545"/>
                </a:solidFill>
              </a:defRPr>
            </a:pPr>
            <a:r>
              <a:t>PROMO EFFICIENCY</a:t>
            </a:r>
          </a:p>
          <a:p>
            <a:pPr>
              <a:spcBef>
                <a:spcPts val="300"/>
              </a:spcBef>
              <a:defRPr sz="950">
                <a:solidFill>
                  <a:srgbClr val="1E293B"/>
                </a:solidFill>
              </a:defRPr>
            </a:pPr>
            <a:r>
              <a:t>QGI rises from Harvest (93) to Seed (109) — marketing spend is actively driving premium basket conversion.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FINANCE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F&amp;N Brand Portfolio Review — Switzerland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CORE BRAND HEALTH &amp; VALUE DRIVERS (CHF)</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69 of 80</a:t>
            </a:r>
          </a:p>
        </p:txBody>
      </p:sp>
      <p:graphicFrame>
        <p:nvGraphicFramePr>
          <p:cNvPr id="9" name="Table 8"/>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286000"/>
                <a:gridCol w="1645920"/>
                <a:gridCol w="1645920"/>
                <a:gridCol w="1645920"/>
                <a:gridCol w="1645920"/>
                <a:gridCol w="1858975"/>
              </a:tblGrid>
              <a:tr h="822960">
                <a:tc>
                  <a:txBody>
                    <a:bodyPr/>
                    <a:lstStyle/>
                    <a:p>
                      <a:pPr algn="l">
                        <a:defRPr b="1" sz="1100">
                          <a:solidFill>
                            <a:srgbClr val="FFFFFF"/>
                          </a:solidFill>
                        </a:defRPr>
                      </a:pPr>
                      <a:r>
                        <a:t>Brand Name</a:t>
                      </a:r>
                    </a:p>
                  </a:txBody>
                  <a:tcPr>
                    <a:solidFill>
                      <a:srgbClr val="0B2545"/>
                    </a:solidFill>
                  </a:tcPr>
                </a:tc>
                <a:tc>
                  <a:txBody>
                    <a:bodyPr/>
                    <a:lstStyle/>
                    <a:p>
                      <a:pPr algn="ctr">
                        <a:defRPr b="1" sz="1100">
                          <a:solidFill>
                            <a:srgbClr val="FFFFFF"/>
                          </a:solidFill>
                        </a:defRPr>
                      </a:pPr>
                      <a:r>
                        <a:t>RSV (CHF)</a:t>
                      </a:r>
                    </a:p>
                  </a:txBody>
                  <a:tcPr>
                    <a:solidFill>
                      <a:srgbClr val="0B2545"/>
                    </a:solidFill>
                  </a:tcPr>
                </a:tc>
                <a:tc>
                  <a:txBody>
                    <a:bodyPr/>
                    <a:lstStyle/>
                    <a:p>
                      <a:pPr algn="ctr">
                        <a:defRPr b="1" sz="1100">
                          <a:solidFill>
                            <a:srgbClr val="FFFFFF"/>
                          </a:solidFill>
                        </a:defRPr>
                      </a:pPr>
                      <a:r>
                        <a:t>RSV Growth</a:t>
                      </a:r>
                    </a:p>
                  </a:txBody>
                  <a:tcPr>
                    <a:solidFill>
                      <a:srgbClr val="0B2545"/>
                    </a:solidFill>
                  </a:tcPr>
                </a:tc>
                <a:tc>
                  <a:txBody>
                    <a:bodyPr/>
                    <a:lstStyle/>
                    <a:p>
                      <a:pPr algn="ctr">
                        <a:defRPr b="1" sz="1100">
                          <a:solidFill>
                            <a:srgbClr val="FFFFFF"/>
                          </a:solidFill>
                        </a:defRPr>
                      </a:pPr>
                      <a:r>
                        <a:t>Volume (kt)</a:t>
                      </a:r>
                    </a:p>
                  </a:txBody>
                  <a:tcPr>
                    <a:solidFill>
                      <a:srgbClr val="0B2545"/>
                    </a:solidFill>
                  </a:tcPr>
                </a:tc>
                <a:tc>
                  <a:txBody>
                    <a:bodyPr/>
                    <a:lstStyle/>
                    <a:p>
                      <a:pPr algn="ctr">
                        <a:defRPr b="1" sz="1100">
                          <a:solidFill>
                            <a:srgbClr val="FFFFFF"/>
                          </a:solidFill>
                        </a:defRPr>
                      </a:pPr>
                      <a:r>
                        <a:t>Market Share</a:t>
                      </a:r>
                    </a:p>
                  </a:txBody>
                  <a:tcPr>
                    <a:solidFill>
                      <a:srgbClr val="0B2545"/>
                    </a:solidFill>
                  </a:tcPr>
                </a:tc>
                <a:tc>
                  <a:txBody>
                    <a:bodyPr/>
                    <a:lstStyle/>
                    <a:p>
                      <a:pPr algn="ctr">
                        <a:defRPr b="1" sz="1100">
                          <a:solidFill>
                            <a:srgbClr val="FFFFFF"/>
                          </a:solidFill>
                        </a:defRPr>
                      </a:pPr>
                      <a:r>
                        <a:t>Household Pen.</a:t>
                      </a:r>
                    </a:p>
                  </a:txBody>
                  <a:tcPr>
                    <a:solidFill>
                      <a:srgbClr val="0B2545"/>
                    </a:solidFill>
                  </a:tcPr>
                </a:tc>
              </a:tr>
              <a:tr h="822960">
                <a:tc>
                  <a:txBody>
                    <a:bodyPr/>
                    <a:lstStyle/>
                    <a:p>
                      <a:pPr>
                        <a:defRPr sz="1050" b="1">
                          <a:solidFill>
                            <a:srgbClr val="0B2545"/>
                          </a:solidFill>
                        </a:defRPr>
                      </a:pPr>
                      <a:r>
                        <a:t>Seeds of Change</a:t>
                      </a:r>
                    </a:p>
                  </a:txBody>
                  <a:tcPr>
                    <a:solidFill>
                      <a:srgbClr val="FFFFFF"/>
                    </a:solidFill>
                  </a:tcPr>
                </a:tc>
                <a:tc>
                  <a:txBody>
                    <a:bodyPr/>
                    <a:lstStyle/>
                    <a:p>
                      <a:pPr algn="ctr">
                        <a:defRPr sz="1050">
                          <a:solidFill>
                            <a:srgbClr val="1E293B"/>
                          </a:solidFill>
                        </a:defRPr>
                      </a:pPr>
                      <a:r>
                        <a:t>CHF420M</a:t>
                      </a:r>
                    </a:p>
                  </a:txBody>
                  <a:tcPr>
                    <a:solidFill>
                      <a:srgbClr val="FFFFFF"/>
                    </a:solidFill>
                  </a:tcPr>
                </a:tc>
                <a:tc>
                  <a:txBody>
                    <a:bodyPr/>
                    <a:lstStyle/>
                    <a:p>
                      <a:pPr algn="ctr">
                        <a:defRPr sz="1050">
                          <a:solidFill>
                            <a:srgbClr val="10955D"/>
                          </a:solidFill>
                        </a:defRPr>
                      </a:pPr>
                      <a:r>
                        <a:t>+6.8%</a:t>
                      </a:r>
                    </a:p>
                  </a:txBody>
                  <a:tcPr>
                    <a:solidFill>
                      <a:srgbClr val="FFFFFF"/>
                    </a:solidFill>
                  </a:tcPr>
                </a:tc>
                <a:tc>
                  <a:txBody>
                    <a:bodyPr/>
                    <a:lstStyle/>
                    <a:p>
                      <a:pPr algn="ctr">
                        <a:defRPr sz="1050">
                          <a:solidFill>
                            <a:srgbClr val="1E293B"/>
                          </a:solidFill>
                        </a:defRPr>
                      </a:pPr>
                      <a:r>
                        <a:t>34.2 kt</a:t>
                      </a:r>
                    </a:p>
                  </a:txBody>
                  <a:tcPr>
                    <a:solidFill>
                      <a:srgbClr val="FFFFFF"/>
                    </a:solidFill>
                  </a:tcPr>
                </a:tc>
                <a:tc>
                  <a:txBody>
                    <a:bodyPr/>
                    <a:lstStyle/>
                    <a:p>
                      <a:pPr algn="ctr">
                        <a:defRPr sz="1050">
                          <a:solidFill>
                            <a:srgbClr val="1E293B"/>
                          </a:solidFill>
                        </a:defRPr>
                      </a:pPr>
                      <a:r>
                        <a:t>28.4%</a:t>
                      </a:r>
                    </a:p>
                  </a:txBody>
                  <a:tcPr>
                    <a:solidFill>
                      <a:srgbClr val="FFFFFF"/>
                    </a:solidFill>
                  </a:tcPr>
                </a:tc>
                <a:tc>
                  <a:txBody>
                    <a:bodyPr/>
                    <a:lstStyle/>
                    <a:p>
                      <a:pPr algn="ctr">
                        <a:defRPr sz="1050">
                          <a:solidFill>
                            <a:srgbClr val="1E293B"/>
                          </a:solidFill>
                        </a:defRPr>
                      </a:pPr>
                      <a:r>
                        <a:t>44.2%</a:t>
                      </a:r>
                    </a:p>
                  </a:txBody>
                  <a:tcPr>
                    <a:solidFill>
                      <a:srgbClr val="FFFFFF"/>
                    </a:solidFill>
                  </a:tcPr>
                </a:tc>
              </a:tr>
              <a:tr h="822960">
                <a:tc>
                  <a:txBody>
                    <a:bodyPr/>
                    <a:lstStyle/>
                    <a:p>
                      <a:pPr>
                        <a:defRPr sz="1050" b="1">
                          <a:solidFill>
                            <a:srgbClr val="0B2545"/>
                          </a:solidFill>
                        </a:defRPr>
                      </a:pPr>
                      <a:r>
                        <a:t>Ben's Original</a:t>
                      </a:r>
                    </a:p>
                  </a:txBody>
                  <a:tcPr>
                    <a:solidFill>
                      <a:srgbClr val="F8F9FA"/>
                    </a:solidFill>
                  </a:tcPr>
                </a:tc>
                <a:tc>
                  <a:txBody>
                    <a:bodyPr/>
                    <a:lstStyle/>
                    <a:p>
                      <a:pPr algn="ctr">
                        <a:defRPr sz="1050">
                          <a:solidFill>
                            <a:srgbClr val="1E293B"/>
                          </a:solidFill>
                        </a:defRPr>
                      </a:pPr>
                      <a:r>
                        <a:t>CHF310M</a:t>
                      </a:r>
                    </a:p>
                  </a:txBody>
                  <a:tcPr>
                    <a:solidFill>
                      <a:srgbClr val="F8F9FA"/>
                    </a:solidFill>
                  </a:tcPr>
                </a:tc>
                <a:tc>
                  <a:txBody>
                    <a:bodyPr/>
                    <a:lstStyle/>
                    <a:p>
                      <a:pPr algn="ctr">
                        <a:defRPr sz="1050">
                          <a:solidFill>
                            <a:srgbClr val="10955D"/>
                          </a:solidFill>
                        </a:defRPr>
                      </a:pPr>
                      <a:r>
                        <a:t>+4.2%</a:t>
                      </a:r>
                    </a:p>
                  </a:txBody>
                  <a:tcPr>
                    <a:solidFill>
                      <a:srgbClr val="F8F9FA"/>
                    </a:solidFill>
                  </a:tcPr>
                </a:tc>
                <a:tc>
                  <a:txBody>
                    <a:bodyPr/>
                    <a:lstStyle/>
                    <a:p>
                      <a:pPr algn="ctr">
                        <a:defRPr sz="1050">
                          <a:solidFill>
                            <a:srgbClr val="1E293B"/>
                          </a:solidFill>
                        </a:defRPr>
                      </a:pPr>
                      <a:r>
                        <a:t>28.5 kt</a:t>
                      </a:r>
                    </a:p>
                  </a:txBody>
                  <a:tcPr>
                    <a:solidFill>
                      <a:srgbClr val="F8F9FA"/>
                    </a:solidFill>
                  </a:tcPr>
                </a:tc>
                <a:tc>
                  <a:txBody>
                    <a:bodyPr/>
                    <a:lstStyle/>
                    <a:p>
                      <a:pPr algn="ctr">
                        <a:defRPr sz="1050">
                          <a:solidFill>
                            <a:srgbClr val="1E293B"/>
                          </a:solidFill>
                        </a:defRPr>
                      </a:pPr>
                      <a:r>
                        <a:t>22.1%</a:t>
                      </a:r>
                    </a:p>
                  </a:txBody>
                  <a:tcPr>
                    <a:solidFill>
                      <a:srgbClr val="F8F9FA"/>
                    </a:solidFill>
                  </a:tcPr>
                </a:tc>
                <a:tc>
                  <a:txBody>
                    <a:bodyPr/>
                    <a:lstStyle/>
                    <a:p>
                      <a:pPr algn="ctr">
                        <a:defRPr sz="1050">
                          <a:solidFill>
                            <a:srgbClr val="1E293B"/>
                          </a:solidFill>
                        </a:defRPr>
                      </a:pPr>
                      <a:r>
                        <a:t>38.6%</a:t>
                      </a:r>
                    </a:p>
                  </a:txBody>
                  <a:tcPr>
                    <a:solidFill>
                      <a:srgbClr val="F8F9FA"/>
                    </a:solidFill>
                  </a:tcPr>
                </a:tc>
              </a:tr>
              <a:tr h="822960">
                <a:tc>
                  <a:txBody>
                    <a:bodyPr/>
                    <a:lstStyle/>
                    <a:p>
                      <a:pPr>
                        <a:defRPr sz="1050" b="1">
                          <a:solidFill>
                            <a:srgbClr val="0B2545"/>
                          </a:solidFill>
                        </a:defRPr>
                      </a:pPr>
                      <a:r>
                        <a:t>MasterFoods</a:t>
                      </a:r>
                    </a:p>
                  </a:txBody>
                  <a:tcPr>
                    <a:solidFill>
                      <a:srgbClr val="FFFFFF"/>
                    </a:solidFill>
                  </a:tcPr>
                </a:tc>
                <a:tc>
                  <a:txBody>
                    <a:bodyPr/>
                    <a:lstStyle/>
                    <a:p>
                      <a:pPr algn="ctr">
                        <a:defRPr sz="1050">
                          <a:solidFill>
                            <a:srgbClr val="1E293B"/>
                          </a:solidFill>
                        </a:defRPr>
                      </a:pPr>
                      <a:r>
                        <a:t>CHF145M</a:t>
                      </a:r>
                    </a:p>
                  </a:txBody>
                  <a:tcPr>
                    <a:solidFill>
                      <a:srgbClr val="FFFFFF"/>
                    </a:solidFill>
                  </a:tcPr>
                </a:tc>
                <a:tc>
                  <a:txBody>
                    <a:bodyPr/>
                    <a:lstStyle/>
                    <a:p>
                      <a:pPr algn="ctr">
                        <a:defRPr sz="1050">
                          <a:solidFill>
                            <a:srgbClr val="10955D"/>
                          </a:solidFill>
                        </a:defRPr>
                      </a:pPr>
                      <a:r>
                        <a:t>+1.9%</a:t>
                      </a:r>
                    </a:p>
                  </a:txBody>
                  <a:tcPr>
                    <a:solidFill>
                      <a:srgbClr val="FFFFFF"/>
                    </a:solidFill>
                  </a:tcPr>
                </a:tc>
                <a:tc>
                  <a:txBody>
                    <a:bodyPr/>
                    <a:lstStyle/>
                    <a:p>
                      <a:pPr algn="ctr">
                        <a:defRPr sz="1050">
                          <a:solidFill>
                            <a:srgbClr val="1E293B"/>
                          </a:solidFill>
                        </a:defRPr>
                      </a:pPr>
                      <a:r>
                        <a:t>12.0 kt</a:t>
                      </a:r>
                    </a:p>
                  </a:txBody>
                  <a:tcPr>
                    <a:solidFill>
                      <a:srgbClr val="FFFFFF"/>
                    </a:solidFill>
                  </a:tcPr>
                </a:tc>
                <a:tc>
                  <a:txBody>
                    <a:bodyPr/>
                    <a:lstStyle/>
                    <a:p>
                      <a:pPr algn="ctr">
                        <a:defRPr sz="1050">
                          <a:solidFill>
                            <a:srgbClr val="1E293B"/>
                          </a:solidFill>
                        </a:defRPr>
                      </a:pPr>
                      <a:r>
                        <a:t>14.3%</a:t>
                      </a:r>
                    </a:p>
                  </a:txBody>
                  <a:tcPr>
                    <a:solidFill>
                      <a:srgbClr val="FFFFFF"/>
                    </a:solidFill>
                  </a:tcPr>
                </a:tc>
                <a:tc>
                  <a:txBody>
                    <a:bodyPr/>
                    <a:lstStyle/>
                    <a:p>
                      <a:pPr algn="ctr">
                        <a:defRPr sz="1050">
                          <a:solidFill>
                            <a:srgbClr val="1E293B"/>
                          </a:solidFill>
                        </a:defRPr>
                      </a:pPr>
                      <a:r>
                        <a:t>21.0%</a:t>
                      </a:r>
                    </a:p>
                  </a:txBody>
                  <a:tcPr>
                    <a:solidFill>
                      <a:srgbClr val="FFFFFF"/>
                    </a:solidFill>
                  </a:tcPr>
                </a:tc>
              </a:tr>
              <a:tr h="822960">
                <a:tc>
                  <a:txBody>
                    <a:bodyPr/>
                    <a:lstStyle/>
                    <a:p>
                      <a:pPr>
                        <a:defRPr sz="1050" b="1">
                          <a:solidFill>
                            <a:srgbClr val="0B2545"/>
                          </a:solidFill>
                        </a:defRPr>
                      </a:pPr>
                      <a:r>
                        <a:t>Seeds of Change</a:t>
                      </a:r>
                    </a:p>
                  </a:txBody>
                  <a:tcPr>
                    <a:solidFill>
                      <a:srgbClr val="F8F9FA"/>
                    </a:solidFill>
                  </a:tcPr>
                </a:tc>
                <a:tc>
                  <a:txBody>
                    <a:bodyPr/>
                    <a:lstStyle/>
                    <a:p>
                      <a:pPr algn="ctr">
                        <a:defRPr sz="1050">
                          <a:solidFill>
                            <a:srgbClr val="1E293B"/>
                          </a:solidFill>
                        </a:defRPr>
                      </a:pPr>
                      <a:r>
                        <a:t>CHF62M</a:t>
                      </a:r>
                    </a:p>
                  </a:txBody>
                  <a:tcPr>
                    <a:solidFill>
                      <a:srgbClr val="F8F9FA"/>
                    </a:solidFill>
                  </a:tcPr>
                </a:tc>
                <a:tc>
                  <a:txBody>
                    <a:bodyPr/>
                    <a:lstStyle/>
                    <a:p>
                      <a:pPr algn="ctr">
                        <a:defRPr sz="1050">
                          <a:solidFill>
                            <a:srgbClr val="10955D"/>
                          </a:solidFill>
                        </a:defRPr>
                      </a:pPr>
                      <a:r>
                        <a:t>+14.5%</a:t>
                      </a:r>
                    </a:p>
                  </a:txBody>
                  <a:tcPr>
                    <a:solidFill>
                      <a:srgbClr val="F8F9FA"/>
                    </a:solidFill>
                  </a:tcPr>
                </a:tc>
                <a:tc>
                  <a:txBody>
                    <a:bodyPr/>
                    <a:lstStyle/>
                    <a:p>
                      <a:pPr algn="ctr">
                        <a:defRPr sz="1050">
                          <a:solidFill>
                            <a:srgbClr val="1E293B"/>
                          </a:solidFill>
                        </a:defRPr>
                      </a:pPr>
                      <a:r>
                        <a:t>4.1 kt</a:t>
                      </a:r>
                    </a:p>
                  </a:txBody>
                  <a:tcPr>
                    <a:solidFill>
                      <a:srgbClr val="F8F9FA"/>
                    </a:solidFill>
                  </a:tcPr>
                </a:tc>
                <a:tc>
                  <a:txBody>
                    <a:bodyPr/>
                    <a:lstStyle/>
                    <a:p>
                      <a:pPr algn="ctr">
                        <a:defRPr sz="1050">
                          <a:solidFill>
                            <a:srgbClr val="1E293B"/>
                          </a:solidFill>
                        </a:defRPr>
                      </a:pPr>
                      <a:r>
                        <a:t>6.2%</a:t>
                      </a:r>
                    </a:p>
                  </a:txBody>
                  <a:tcPr>
                    <a:solidFill>
                      <a:srgbClr val="F8F9FA"/>
                    </a:solidFill>
                  </a:tcPr>
                </a:tc>
                <a:tc>
                  <a:txBody>
                    <a:bodyPr/>
                    <a:lstStyle/>
                    <a:p>
                      <a:pPr algn="ctr">
                        <a:defRPr sz="1050">
                          <a:solidFill>
                            <a:srgbClr val="1E293B"/>
                          </a:solidFill>
                        </a:defRPr>
                      </a:pPr>
                      <a:r>
                        <a:t>11.5%</a:t>
                      </a:r>
                    </a:p>
                  </a:txBody>
                  <a:tcPr>
                    <a:solidFill>
                      <a:srgbClr val="F8F9FA"/>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CONSUMER INSIGHTS</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Brand Equity &amp; Market Dynamics — Switzerland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PENETRATION &amp; CONSUMER PERCEPTION (SEEDS OF CHANGE)</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70 of 80</a:t>
            </a:r>
          </a:p>
        </p:txBody>
      </p:sp>
      <p:sp>
        <p:nvSpPr>
          <p:cNvPr id="9" name="Rounded Rectangle 8"/>
          <p:cNvSpPr/>
          <p:nvPr/>
        </p:nvSpPr>
        <p:spPr>
          <a:xfrm>
            <a:off x="7315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3047695" cy="3840480"/>
          </a:xfrm>
          <a:prstGeom prst="rect">
            <a:avLst/>
          </a:prstGeom>
          <a:noFill/>
        </p:spPr>
        <p:txBody>
          <a:bodyPr wrap="square">
            <a:spAutoFit/>
          </a:bodyPr>
          <a:lstStyle/>
          <a:p>
            <a:pPr>
              <a:defRPr sz="1300" b="1">
                <a:solidFill>
                  <a:srgbClr val="0B2545"/>
                </a:solidFill>
              </a:defRPr>
            </a:pPr>
            <a:r>
              <a:t>Household Penetration</a:t>
            </a:r>
          </a:p>
          <a:p>
            <a:pPr>
              <a:spcBef>
                <a:spcPts val="1400"/>
              </a:spcBef>
              <a:defRPr sz="2800" b="1">
                <a:solidFill>
                  <a:srgbClr val="2563EB"/>
                </a:solidFill>
              </a:defRPr>
            </a:pPr>
            <a:r>
              <a:t>41.2%</a:t>
            </a:r>
          </a:p>
          <a:p>
            <a:pPr>
              <a:spcBef>
                <a:spcPts val="400"/>
              </a:spcBef>
              <a:defRPr sz="1200" b="1">
                <a:solidFill>
                  <a:srgbClr val="DC2626"/>
                </a:solidFill>
              </a:defRPr>
            </a:pPr>
            <a:r>
              <a:t>-1.4 pp vs PY</a:t>
            </a:r>
          </a:p>
          <a:p>
            <a:pPr>
              <a:spcBef>
                <a:spcPts val="2000"/>
              </a:spcBef>
              <a:defRPr sz="1050">
                <a:solidFill>
                  <a:srgbClr val="1E293B"/>
                </a:solidFill>
              </a:defRPr>
            </a:pPr>
            <a:r>
              <a:t>Fragile underlying household reach despite inflationary RSV growth. Retailer private label encroachment in second-tier supermarkets.</a:t>
            </a:r>
          </a:p>
        </p:txBody>
      </p:sp>
      <p:sp>
        <p:nvSpPr>
          <p:cNvPr id="11" name="Rounded Rectangle 10"/>
          <p:cNvSpPr/>
          <p:nvPr/>
        </p:nvSpPr>
        <p:spPr>
          <a:xfrm>
            <a:off x="43891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828800"/>
            <a:ext cx="3047695" cy="3840480"/>
          </a:xfrm>
          <a:prstGeom prst="rect">
            <a:avLst/>
          </a:prstGeom>
          <a:noFill/>
        </p:spPr>
        <p:txBody>
          <a:bodyPr wrap="square">
            <a:spAutoFit/>
          </a:bodyPr>
          <a:lstStyle/>
          <a:p>
            <a:pPr>
              <a:defRPr sz="1300" b="1">
                <a:solidFill>
                  <a:srgbClr val="0B2545"/>
                </a:solidFill>
              </a:defRPr>
            </a:pPr>
            <a:r>
              <a:t>Weighted Physical Distribution</a:t>
            </a:r>
          </a:p>
          <a:p>
            <a:pPr>
              <a:spcBef>
                <a:spcPts val="1400"/>
              </a:spcBef>
              <a:defRPr sz="2800" b="1">
                <a:solidFill>
                  <a:srgbClr val="2563EB"/>
                </a:solidFill>
              </a:defRPr>
            </a:pPr>
            <a:r>
              <a:t>88.3%</a:t>
            </a:r>
          </a:p>
          <a:p>
            <a:pPr>
              <a:spcBef>
                <a:spcPts val="400"/>
              </a:spcBef>
              <a:defRPr sz="1200" b="1">
                <a:solidFill>
                  <a:srgbClr val="10955D"/>
                </a:solidFill>
              </a:defRPr>
            </a:pPr>
            <a:r>
              <a:t>+2.2 pts vs PY</a:t>
            </a:r>
          </a:p>
          <a:p>
            <a:pPr>
              <a:spcBef>
                <a:spcPts val="2000"/>
              </a:spcBef>
              <a:defRPr sz="1050">
                <a:solidFill>
                  <a:srgbClr val="1E293B"/>
                </a:solidFill>
              </a:defRPr>
            </a:pPr>
            <a:r>
              <a:t>Distribution footprint expanded via discounter listings (Aldi/Lidl). Shelf-share maintained across top 3 national grocers.</a:t>
            </a:r>
          </a:p>
        </p:txBody>
      </p:sp>
      <p:sp>
        <p:nvSpPr>
          <p:cNvPr id="13" name="Rounded Rectangle 12"/>
          <p:cNvSpPr/>
          <p:nvPr/>
        </p:nvSpPr>
        <p:spPr>
          <a:xfrm>
            <a:off x="8046720" y="1645920"/>
            <a:ext cx="3413455" cy="4206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828800"/>
            <a:ext cx="3047695" cy="3840480"/>
          </a:xfrm>
          <a:prstGeom prst="rect">
            <a:avLst/>
          </a:prstGeom>
          <a:noFill/>
        </p:spPr>
        <p:txBody>
          <a:bodyPr wrap="square">
            <a:spAutoFit/>
          </a:bodyPr>
          <a:lstStyle/>
          <a:p>
            <a:pPr>
              <a:defRPr sz="1300" b="1">
                <a:solidFill>
                  <a:srgbClr val="0B2545"/>
                </a:solidFill>
              </a:defRPr>
            </a:pPr>
            <a:r>
              <a:t>Price Elasticity &amp; Premium Index</a:t>
            </a:r>
          </a:p>
          <a:p>
            <a:pPr>
              <a:spcBef>
                <a:spcPts val="1400"/>
              </a:spcBef>
              <a:defRPr sz="2800" b="1">
                <a:solidFill>
                  <a:srgbClr val="2563EB"/>
                </a:solidFill>
              </a:defRPr>
            </a:pPr>
            <a:r>
              <a:t>118 Index</a:t>
            </a:r>
          </a:p>
          <a:p>
            <a:pPr>
              <a:spcBef>
                <a:spcPts val="400"/>
              </a:spcBef>
              <a:defRPr sz="1200" b="1">
                <a:solidFill>
                  <a:srgbClr val="10955D"/>
                </a:solidFill>
              </a:defRPr>
            </a:pPr>
            <a:r>
              <a:t>+4 pts vs PY</a:t>
            </a:r>
          </a:p>
          <a:p>
            <a:pPr>
              <a:spcBef>
                <a:spcPts val="2000"/>
              </a:spcBef>
              <a:defRPr sz="1050">
                <a:solidFill>
                  <a:srgbClr val="1E293B"/>
                </a:solidFill>
              </a:defRPr>
            </a:pPr>
            <a:r>
              <a:t>Consumers accepting premiumization in functional meal-maker subsegments, while base SKU demand shows slight volume elasticity.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MARKETING</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Marketing Spend &amp; ROI Calibration — Switzerland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A&amp;CP ALLOCATION, DIGITAL ROI &amp; MEDIA MIX EFFECTIVENESS</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71 of 80</a:t>
            </a:r>
          </a:p>
        </p:txBody>
      </p:sp>
      <p:sp>
        <p:nvSpPr>
          <p:cNvPr id="9" name="Rounded Rectangle 8"/>
          <p:cNvSpPr/>
          <p:nvPr/>
        </p:nvSpPr>
        <p:spPr>
          <a:xfrm>
            <a:off x="7315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83080"/>
            <a:ext cx="4876495" cy="1645920"/>
          </a:xfrm>
          <a:prstGeom prst="rect">
            <a:avLst/>
          </a:prstGeom>
          <a:noFill/>
        </p:spPr>
        <p:txBody>
          <a:bodyPr wrap="square">
            <a:spAutoFit/>
          </a:bodyPr>
          <a:lstStyle/>
          <a:p>
            <a:pPr>
              <a:defRPr sz="1300" b="1">
                <a:solidFill>
                  <a:srgbClr val="0B2545"/>
                </a:solidFill>
              </a:defRPr>
            </a:pPr>
            <a:r>
              <a:t>Digital &amp; Social Video</a:t>
            </a:r>
          </a:p>
          <a:p>
            <a:pPr>
              <a:spcBef>
                <a:spcPts val="600"/>
              </a:spcBef>
              <a:defRPr sz="1150" b="1">
                <a:solidFill>
                  <a:srgbClr val="2563EB"/>
                </a:solidFill>
              </a:defRPr>
            </a:pPr>
            <a:r>
              <a:t>CHF14.2M Spend   •   ROI: 2.45x (+18%)</a:t>
            </a:r>
          </a:p>
          <a:p>
            <a:pPr>
              <a:spcBef>
                <a:spcPts val="800"/>
              </a:spcBef>
              <a:defRPr sz="1000">
                <a:solidFill>
                  <a:srgbClr val="1E293B"/>
                </a:solidFill>
              </a:defRPr>
            </a:pPr>
            <a:r>
              <a:t>TikTok &amp; Meta creator campaigns driving strong Gen Z meal-prep adoption.</a:t>
            </a:r>
          </a:p>
        </p:txBody>
      </p:sp>
      <p:sp>
        <p:nvSpPr>
          <p:cNvPr id="11" name="Rounded Rectangle 10"/>
          <p:cNvSpPr/>
          <p:nvPr/>
        </p:nvSpPr>
        <p:spPr>
          <a:xfrm>
            <a:off x="6217920" y="164592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83080"/>
            <a:ext cx="4876495" cy="1645920"/>
          </a:xfrm>
          <a:prstGeom prst="rect">
            <a:avLst/>
          </a:prstGeom>
          <a:noFill/>
        </p:spPr>
        <p:txBody>
          <a:bodyPr wrap="square">
            <a:spAutoFit/>
          </a:bodyPr>
          <a:lstStyle/>
          <a:p>
            <a:pPr>
              <a:defRPr sz="1300" b="1">
                <a:solidFill>
                  <a:srgbClr val="0B2545"/>
                </a:solidFill>
              </a:defRPr>
            </a:pPr>
            <a:r>
              <a:t>Linear &amp; Connected TV</a:t>
            </a:r>
          </a:p>
          <a:p>
            <a:pPr>
              <a:spcBef>
                <a:spcPts val="600"/>
              </a:spcBef>
              <a:defRPr sz="1150" b="1">
                <a:solidFill>
                  <a:srgbClr val="2563EB"/>
                </a:solidFill>
              </a:defRPr>
            </a:pPr>
            <a:r>
              <a:t>CHF22.8M Spend   •   ROI: 1.82x (Flat)</a:t>
            </a:r>
          </a:p>
          <a:p>
            <a:pPr>
              <a:spcBef>
                <a:spcPts val="800"/>
              </a:spcBef>
              <a:defRPr sz="1000">
                <a:solidFill>
                  <a:srgbClr val="1E293B"/>
                </a:solidFill>
              </a:defRPr>
            </a:pPr>
            <a:r>
              <a:t>Mass brand awareness solid for Dolmio core red sauce; high reach during weekday prime time.</a:t>
            </a:r>
          </a:p>
        </p:txBody>
      </p:sp>
      <p:sp>
        <p:nvSpPr>
          <p:cNvPr id="13" name="Rounded Rectangle 12"/>
          <p:cNvSpPr/>
          <p:nvPr/>
        </p:nvSpPr>
        <p:spPr>
          <a:xfrm>
            <a:off x="7315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76495" cy="1645920"/>
          </a:xfrm>
          <a:prstGeom prst="rect">
            <a:avLst/>
          </a:prstGeom>
          <a:noFill/>
        </p:spPr>
        <p:txBody>
          <a:bodyPr wrap="square">
            <a:spAutoFit/>
          </a:bodyPr>
          <a:lstStyle/>
          <a:p>
            <a:pPr>
              <a:defRPr sz="1300" b="1">
                <a:solidFill>
                  <a:srgbClr val="0B2545"/>
                </a:solidFill>
              </a:defRPr>
            </a:pPr>
            <a:r>
              <a:t>In-Store &amp; Retail Media</a:t>
            </a:r>
          </a:p>
          <a:p>
            <a:pPr>
              <a:spcBef>
                <a:spcPts val="600"/>
              </a:spcBef>
              <a:defRPr sz="1150" b="1">
                <a:solidFill>
                  <a:srgbClr val="2563EB"/>
                </a:solidFill>
              </a:defRPr>
            </a:pPr>
            <a:r>
              <a:t>CHF8.4M Spend   •   ROI: 3.10x (+24%)</a:t>
            </a:r>
          </a:p>
          <a:p>
            <a:pPr>
              <a:spcBef>
                <a:spcPts val="800"/>
              </a:spcBef>
              <a:defRPr sz="1000">
                <a:solidFill>
                  <a:srgbClr val="1E293B"/>
                </a:solidFill>
              </a:defRPr>
            </a:pPr>
            <a:r>
              <a:t>E-commerce retailer search ads and end-cap digital screens delivered highest incremental conversion.</a:t>
            </a:r>
          </a:p>
        </p:txBody>
      </p:sp>
      <p:sp>
        <p:nvSpPr>
          <p:cNvPr id="15" name="Rounded Rectangle 14"/>
          <p:cNvSpPr/>
          <p:nvPr/>
        </p:nvSpPr>
        <p:spPr>
          <a:xfrm>
            <a:off x="6217920" y="3840480"/>
            <a:ext cx="5242255" cy="192024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876495" cy="1645920"/>
          </a:xfrm>
          <a:prstGeom prst="rect">
            <a:avLst/>
          </a:prstGeom>
          <a:noFill/>
        </p:spPr>
        <p:txBody>
          <a:bodyPr wrap="square">
            <a:spAutoFit/>
          </a:bodyPr>
          <a:lstStyle/>
          <a:p>
            <a:pPr>
              <a:defRPr sz="1300" b="1">
                <a:solidFill>
                  <a:srgbClr val="0B2545"/>
                </a:solidFill>
              </a:defRPr>
            </a:pPr>
            <a:r>
              <a:t>Influencer &amp; Experiential</a:t>
            </a:r>
          </a:p>
          <a:p>
            <a:pPr>
              <a:spcBef>
                <a:spcPts val="600"/>
              </a:spcBef>
              <a:defRPr sz="1150" b="1">
                <a:solidFill>
                  <a:srgbClr val="2563EB"/>
                </a:solidFill>
              </a:defRPr>
            </a:pPr>
            <a:r>
              <a:t>CHF3.5M Spend   •   ROI: 1.65x (-8%)</a:t>
            </a:r>
          </a:p>
          <a:p>
            <a:pPr>
              <a:spcBef>
                <a:spcPts val="800"/>
              </a:spcBef>
              <a:defRPr sz="1000">
                <a:solidFill>
                  <a:srgbClr val="1E293B"/>
                </a:solidFill>
              </a:defRPr>
            </a:pPr>
            <a:r>
              <a:t>Sampling events high cost-per-contact; shifting budget toward digital retail activations in H2.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Commentary Workspace — Switzerland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AI-SYNTHESIZED GOVERNANCE NARRATIVES (SEEDS OF CHANGE)</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72 of 80</a:t>
            </a:r>
          </a:p>
        </p:txBody>
      </p:sp>
      <p:sp>
        <p:nvSpPr>
          <p:cNvPr id="9" name="Rounded Rectangle 8"/>
          <p:cNvSpPr/>
          <p:nvPr/>
        </p:nvSpPr>
        <p:spPr>
          <a:xfrm>
            <a:off x="731520" y="1554480"/>
            <a:ext cx="10728655" cy="1325880"/>
          </a:xfrm>
          <a:prstGeom prst="roundRect">
            <a:avLst/>
          </a:prstGeom>
          <a:solidFill>
            <a:srgbClr val="F8F9F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64208"/>
            <a:ext cx="10149840" cy="1097280"/>
          </a:xfrm>
          <a:prstGeom prst="rect">
            <a:avLst/>
          </a:prstGeom>
          <a:noFill/>
        </p:spPr>
        <p:txBody>
          <a:bodyPr wrap="square">
            <a:spAutoFit/>
          </a:bodyPr>
          <a:lstStyle/>
          <a:p>
            <a:pPr>
              <a:defRPr sz="1100" b="1">
                <a:solidFill>
                  <a:srgbClr val="2563EB"/>
                </a:solidFill>
              </a:defRPr>
            </a:pPr>
            <a:r>
              <a:t>CATEGORY HEADLINE</a:t>
            </a:r>
          </a:p>
          <a:p>
            <a:pPr>
              <a:spcBef>
                <a:spcPts val="400"/>
              </a:spcBef>
              <a:defRPr sz="950">
                <a:solidFill>
                  <a:srgbClr val="1E293B"/>
                </a:solidFill>
              </a:defRPr>
            </a:pPr>
            <a:r>
              <a:t>Total cooking-sauce &amp; ready meal category in Switzerland grew +3.9% in the latest 12 wks (CHF106.7M) but is flat MAT (+0.7%), with growth entirely price-led as household penetration softened -1.4pp.</a:t>
            </a:r>
          </a:p>
        </p:txBody>
      </p:sp>
      <p:sp>
        <p:nvSpPr>
          <p:cNvPr id="11" name="Rounded Rectangle 10"/>
          <p:cNvSpPr/>
          <p:nvPr/>
        </p:nvSpPr>
        <p:spPr>
          <a:xfrm>
            <a:off x="731520" y="3063239"/>
            <a:ext cx="10728655" cy="1325880"/>
          </a:xfrm>
          <a:prstGeom prst="roundRect">
            <a:avLst/>
          </a:prstGeom>
          <a:solidFill>
            <a:srgbClr val="F8F9FA"/>
          </a:solidFill>
          <a:ln w="19050">
            <a:solidFill>
              <a:srgbClr val="D96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72967"/>
            <a:ext cx="10149840" cy="1097280"/>
          </a:xfrm>
          <a:prstGeom prst="rect">
            <a:avLst/>
          </a:prstGeom>
          <a:noFill/>
        </p:spPr>
        <p:txBody>
          <a:bodyPr wrap="square">
            <a:spAutoFit/>
          </a:bodyPr>
          <a:lstStyle/>
          <a:p>
            <a:pPr>
              <a:defRPr sz="1100" b="1">
                <a:solidFill>
                  <a:srgbClr val="D96B27"/>
                </a:solidFill>
              </a:defRPr>
            </a:pPr>
            <a:r>
              <a:t>CATEGORY SO WHAT (ROOT CAUSE ANALYSIS)</a:t>
            </a:r>
          </a:p>
          <a:p>
            <a:pPr>
              <a:spcBef>
                <a:spcPts val="400"/>
              </a:spcBef>
              <a:defRPr sz="950">
                <a:solidFill>
                  <a:srgbClr val="1E293B"/>
                </a:solidFill>
              </a:defRPr>
            </a:pPr>
            <a:r>
              <a:t>The category is currently buoyed by price realization rather than volume demand. Falling penetration across competing tier-2 brands signals that consumers are cutting secondary grocery trips and selectively purchasing private label. However, Mars core brand retain strong price premium resilience.</a:t>
            </a:r>
          </a:p>
        </p:txBody>
      </p:sp>
      <p:sp>
        <p:nvSpPr>
          <p:cNvPr id="13" name="Rounded Rectangle 12"/>
          <p:cNvSpPr/>
          <p:nvPr/>
        </p:nvSpPr>
        <p:spPr>
          <a:xfrm>
            <a:off x="731520" y="4572000"/>
            <a:ext cx="10728655" cy="1325880"/>
          </a:xfrm>
          <a:prstGeom prst="roundRect">
            <a:avLst/>
          </a:prstGeom>
          <a:solidFill>
            <a:srgbClr val="F8F9FA"/>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681728"/>
            <a:ext cx="10149840" cy="1097280"/>
          </a:xfrm>
          <a:prstGeom prst="rect">
            <a:avLst/>
          </a:prstGeom>
          <a:noFill/>
        </p:spPr>
        <p:txBody>
          <a:bodyPr wrap="square">
            <a:spAutoFit/>
          </a:bodyPr>
          <a:lstStyle/>
          <a:p>
            <a:pPr>
              <a:defRPr sz="1100" b="1">
                <a:solidFill>
                  <a:srgbClr val="10955D"/>
                </a:solidFill>
              </a:defRPr>
            </a:pPr>
            <a:r>
              <a:t>CATEGORY NOW WHAT (FORWARD OPERATING RESPONSES)</a:t>
            </a:r>
          </a:p>
          <a:p>
            <a:pPr>
              <a:spcBef>
                <a:spcPts val="400"/>
              </a:spcBef>
              <a:defRPr sz="950">
                <a:solidFill>
                  <a:srgbClr val="1E293B"/>
                </a:solidFill>
              </a:defRPr>
            </a:pPr>
            <a:r>
              <a:t>1. Protect the core with aggressive Q3 promotional feature-and-display in top grocers.</a:t>
            </a:r>
            <a:br/>
            <a:r>
              <a:t>2. Reallocate £1.8M marketing spend into digital retail media to counter private label trade down.</a:t>
            </a:r>
            <a:br/>
            <a:r>
              <a:t>3. Accelerate Seed cell innovation (Seeds of Change plant-based and high-protein variants) to capture incremental margin.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STRATEGY</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Strategic Growth Outlook &amp; Unlocks — Switzerland</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FORWARD 6-MONTH CATALYSTS &amp; RISK MITIGATION</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73 of 80</a:t>
            </a:r>
          </a:p>
        </p:txBody>
      </p:sp>
      <p:sp>
        <p:nvSpPr>
          <p:cNvPr id="9" name="Rounded Rectangle 8"/>
          <p:cNvSpPr/>
          <p:nvPr/>
        </p:nvSpPr>
        <p:spPr>
          <a:xfrm>
            <a:off x="7315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2224735" cy="3749039"/>
          </a:xfrm>
          <a:prstGeom prst="rect">
            <a:avLst/>
          </a:prstGeom>
          <a:noFill/>
        </p:spPr>
        <p:txBody>
          <a:bodyPr wrap="square">
            <a:spAutoFit/>
          </a:bodyPr>
          <a:lstStyle/>
          <a:p>
            <a:pPr>
              <a:defRPr sz="1300" b="1">
                <a:solidFill>
                  <a:srgbClr val="0B2545"/>
                </a:solidFill>
              </a:defRPr>
            </a:pPr>
            <a:r>
              <a:t>Pillar 1: Portfolio Tiering</a:t>
            </a:r>
          </a:p>
          <a:p>
            <a:pPr>
              <a:spcBef>
                <a:spcPts val="1400"/>
              </a:spcBef>
              <a:defRPr sz="1050">
                <a:solidFill>
                  <a:srgbClr val="1E293B"/>
                </a:solidFill>
              </a:defRPr>
            </a:pPr>
            <a:r>
              <a:t>Scale Seed innovations into top 5 retailers with mandatory secondary shelf placement.</a:t>
            </a:r>
          </a:p>
        </p:txBody>
      </p:sp>
      <p:sp>
        <p:nvSpPr>
          <p:cNvPr id="11" name="Rounded Rectangle 10"/>
          <p:cNvSpPr/>
          <p:nvPr/>
        </p:nvSpPr>
        <p:spPr>
          <a:xfrm>
            <a:off x="34747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828800"/>
            <a:ext cx="2224735" cy="3749039"/>
          </a:xfrm>
          <a:prstGeom prst="rect">
            <a:avLst/>
          </a:prstGeom>
          <a:noFill/>
        </p:spPr>
        <p:txBody>
          <a:bodyPr wrap="square">
            <a:spAutoFit/>
          </a:bodyPr>
          <a:lstStyle/>
          <a:p>
            <a:pPr>
              <a:defRPr sz="1300" b="1">
                <a:solidFill>
                  <a:srgbClr val="0B2545"/>
                </a:solidFill>
              </a:defRPr>
            </a:pPr>
            <a:r>
              <a:t>Pillar 2: Trade Optimization</a:t>
            </a:r>
          </a:p>
          <a:p>
            <a:pPr>
              <a:spcBef>
                <a:spcPts val="1400"/>
              </a:spcBef>
              <a:defRPr sz="1050">
                <a:solidFill>
                  <a:srgbClr val="1E293B"/>
                </a:solidFill>
              </a:defRPr>
            </a:pPr>
            <a:r>
              <a:t>Calibrate QGI targets to reward profitable promotional volume over purely volume-discounted promotions.</a:t>
            </a:r>
          </a:p>
        </p:txBody>
      </p:sp>
      <p:sp>
        <p:nvSpPr>
          <p:cNvPr id="13" name="Rounded Rectangle 12"/>
          <p:cNvSpPr/>
          <p:nvPr/>
        </p:nvSpPr>
        <p:spPr>
          <a:xfrm>
            <a:off x="62179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828800"/>
            <a:ext cx="2224735" cy="3749039"/>
          </a:xfrm>
          <a:prstGeom prst="rect">
            <a:avLst/>
          </a:prstGeom>
          <a:noFill/>
        </p:spPr>
        <p:txBody>
          <a:bodyPr wrap="square">
            <a:spAutoFit/>
          </a:bodyPr>
          <a:lstStyle/>
          <a:p>
            <a:pPr>
              <a:defRPr sz="1300" b="1">
                <a:solidFill>
                  <a:srgbClr val="0B2545"/>
                </a:solidFill>
              </a:defRPr>
            </a:pPr>
            <a:r>
              <a:t>Pillar 3: Channel Expansion</a:t>
            </a:r>
          </a:p>
          <a:p>
            <a:pPr>
              <a:spcBef>
                <a:spcPts val="1400"/>
              </a:spcBef>
              <a:defRPr sz="1050">
                <a:solidFill>
                  <a:srgbClr val="1E293B"/>
                </a:solidFill>
              </a:defRPr>
            </a:pPr>
            <a:r>
              <a:t>Target discounter partnerships (Aldi / Lidl) with tailored pack sizes without diluting mainline brand equity.</a:t>
            </a:r>
          </a:p>
        </p:txBody>
      </p:sp>
      <p:sp>
        <p:nvSpPr>
          <p:cNvPr id="15" name="Rounded Rectangle 14"/>
          <p:cNvSpPr/>
          <p:nvPr/>
        </p:nvSpPr>
        <p:spPr>
          <a:xfrm>
            <a:off x="8961120" y="1645920"/>
            <a:ext cx="2499055" cy="411480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1828800"/>
            <a:ext cx="2224735" cy="3749039"/>
          </a:xfrm>
          <a:prstGeom prst="rect">
            <a:avLst/>
          </a:prstGeom>
          <a:noFill/>
        </p:spPr>
        <p:txBody>
          <a:bodyPr wrap="square">
            <a:spAutoFit/>
          </a:bodyPr>
          <a:lstStyle/>
          <a:p>
            <a:pPr>
              <a:defRPr sz="1300" b="1">
                <a:solidFill>
                  <a:srgbClr val="0B2545"/>
                </a:solidFill>
              </a:defRPr>
            </a:pPr>
            <a:r>
              <a:t>Pillar 4: Margin Protection</a:t>
            </a:r>
          </a:p>
          <a:p>
            <a:pPr>
              <a:spcBef>
                <a:spcPts val="1400"/>
              </a:spcBef>
              <a:defRPr sz="1050">
                <a:solidFill>
                  <a:srgbClr val="1E293B"/>
                </a:solidFill>
              </a:defRPr>
            </a:pPr>
            <a:r>
              <a:t>Offset raw material freight inflation by accelerating Harvest cell productivity and SKU rationalization.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74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75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76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77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78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Executive Review Agenda &amp; Portfolio Scope</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EUROPEAN OPERATING SCOPE OVERVIEW</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79 of 80</a:t>
            </a:r>
          </a:p>
        </p:txBody>
      </p:sp>
      <p:sp>
        <p:nvSpPr>
          <p:cNvPr id="9" name="Rounded Rectangle 8"/>
          <p:cNvSpPr/>
          <p:nvPr/>
        </p:nvSpPr>
        <p:spPr>
          <a:xfrm>
            <a:off x="731520" y="164592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755648"/>
            <a:ext cx="10149840" cy="640080"/>
          </a:xfrm>
          <a:prstGeom prst="rect">
            <a:avLst/>
          </a:prstGeom>
          <a:noFill/>
        </p:spPr>
        <p:txBody>
          <a:bodyPr wrap="none">
            <a:spAutoFit/>
          </a:bodyPr>
          <a:lstStyle/>
          <a:p>
            <a:pPr>
              <a:defRPr sz="1400" b="1">
                <a:solidFill>
                  <a:srgbClr val="0B2545"/>
                </a:solidFill>
              </a:defRPr>
            </a:pPr>
            <a:r>
              <a:t>01. European Regional Rollup</a:t>
            </a:r>
          </a:p>
          <a:p>
            <a:pPr>
              <a:spcBef>
                <a:spcPts val="400"/>
              </a:spcBef>
              <a:defRPr sz="1100">
                <a:solidFill>
                  <a:srgbClr val="1E293B"/>
                </a:solidFill>
              </a:defRPr>
            </a:pPr>
            <a:r>
              <a:t>Macro indicators, overall continent growth, Strategic Cells distribution across all 10 EU clusters.</a:t>
            </a:r>
          </a:p>
        </p:txBody>
      </p:sp>
      <p:sp>
        <p:nvSpPr>
          <p:cNvPr id="11" name="Rounded Rectangle 10"/>
          <p:cNvSpPr/>
          <p:nvPr/>
        </p:nvSpPr>
        <p:spPr>
          <a:xfrm>
            <a:off x="731520" y="274320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852928"/>
            <a:ext cx="10149840" cy="640080"/>
          </a:xfrm>
          <a:prstGeom prst="rect">
            <a:avLst/>
          </a:prstGeom>
          <a:noFill/>
        </p:spPr>
        <p:txBody>
          <a:bodyPr wrap="none">
            <a:spAutoFit/>
          </a:bodyPr>
          <a:lstStyle/>
          <a:p>
            <a:pPr>
              <a:defRPr sz="1400" b="1">
                <a:solidFill>
                  <a:srgbClr val="0B2545"/>
                </a:solidFill>
              </a:defRPr>
            </a:pPr>
            <a:r>
              <a:t>02. Priority Market Deep-Dives</a:t>
            </a:r>
          </a:p>
          <a:p>
            <a:pPr>
              <a:spcBef>
                <a:spcPts val="400"/>
              </a:spcBef>
              <a:defRPr sz="1100">
                <a:solidFill>
                  <a:srgbClr val="1E293B"/>
                </a:solidFill>
              </a:defRPr>
            </a:pPr>
            <a:r>
              <a:t>Detailed segment performance for UK, Germany, France, Italy, Spain, Netherlands, Poland, Belgium, Sweden, Switzerland.</a:t>
            </a:r>
          </a:p>
        </p:txBody>
      </p:sp>
      <p:sp>
        <p:nvSpPr>
          <p:cNvPr id="13" name="Rounded Rectangle 12"/>
          <p:cNvSpPr/>
          <p:nvPr/>
        </p:nvSpPr>
        <p:spPr>
          <a:xfrm>
            <a:off x="731520" y="3840480"/>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50208"/>
            <a:ext cx="10149840" cy="640080"/>
          </a:xfrm>
          <a:prstGeom prst="rect">
            <a:avLst/>
          </a:prstGeom>
          <a:noFill/>
        </p:spPr>
        <p:txBody>
          <a:bodyPr wrap="none">
            <a:spAutoFit/>
          </a:bodyPr>
          <a:lstStyle/>
          <a:p>
            <a:pPr>
              <a:defRPr sz="1400" b="1">
                <a:solidFill>
                  <a:srgbClr val="0B2545"/>
                </a:solidFill>
              </a:defRPr>
            </a:pPr>
            <a:r>
              <a:t>03. Brand Equity &amp; Market Share</a:t>
            </a:r>
          </a:p>
          <a:p>
            <a:pPr>
              <a:spcBef>
                <a:spcPts val="400"/>
              </a:spcBef>
              <a:defRPr sz="1100">
                <a:solidFill>
                  <a:srgbClr val="1E293B"/>
                </a:solidFill>
              </a:defRPr>
            </a:pPr>
            <a:r>
              <a:t>Dolmio, Ben's Original, Suzi Wan household penetration, volume/value dynamics, distribution health.</a:t>
            </a:r>
          </a:p>
        </p:txBody>
      </p:sp>
      <p:sp>
        <p:nvSpPr>
          <p:cNvPr id="15" name="Rounded Rectangle 14"/>
          <p:cNvSpPr/>
          <p:nvPr/>
        </p:nvSpPr>
        <p:spPr>
          <a:xfrm>
            <a:off x="731520" y="4937759"/>
            <a:ext cx="10728655" cy="868680"/>
          </a:xfrm>
          <a:prstGeom prst="roundRect">
            <a:avLst/>
          </a:prstGeom>
          <a:solidFill>
            <a:srgbClr val="F8F9F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47487"/>
            <a:ext cx="10149840" cy="640080"/>
          </a:xfrm>
          <a:prstGeom prst="rect">
            <a:avLst/>
          </a:prstGeom>
          <a:noFill/>
        </p:spPr>
        <p:txBody>
          <a:bodyPr wrap="none">
            <a:spAutoFit/>
          </a:bodyPr>
          <a:lstStyle/>
          <a:p>
            <a:pPr>
              <a:defRPr sz="1400" b="1">
                <a:solidFill>
                  <a:srgbClr val="0B2545"/>
                </a:solidFill>
              </a:defRPr>
            </a:pPr>
            <a:r>
              <a:t>04. Strategic Commentary &amp; Outlook</a:t>
            </a:r>
          </a:p>
          <a:p>
            <a:pPr>
              <a:spcBef>
                <a:spcPts val="400"/>
              </a:spcBef>
              <a:defRPr sz="1100">
                <a:solidFill>
                  <a:srgbClr val="1E293B"/>
                </a:solidFill>
              </a:defRPr>
            </a:pPr>
            <a:r>
              <a:t>AI-synthesized Headlines, 'So What' root causes, 'Now What' forward operating recommendations.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875520" y="365760"/>
            <a:ext cx="1645920" cy="32004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defRPr>
            </a:pPr>
            <a:r>
              <a:t>GOVERNANCE</a:t>
            </a:r>
          </a:p>
        </p:txBody>
      </p:sp>
      <p:sp>
        <p:nvSpPr>
          <p:cNvPr id="3" name="TextBox 2"/>
          <p:cNvSpPr txBox="1"/>
          <p:nvPr/>
        </p:nvSpPr>
        <p:spPr>
          <a:xfrm>
            <a:off x="731520" y="365760"/>
            <a:ext cx="8961120" cy="502920"/>
          </a:xfrm>
          <a:prstGeom prst="rect">
            <a:avLst/>
          </a:prstGeom>
          <a:noFill/>
        </p:spPr>
        <p:txBody>
          <a:bodyPr wrap="square">
            <a:spAutoFit/>
          </a:bodyPr>
          <a:lstStyle/>
          <a:p>
            <a:pPr>
              <a:defRPr sz="2000" b="1">
                <a:solidFill>
                  <a:srgbClr val="0B2545"/>
                </a:solidFill>
              </a:defRPr>
            </a:pPr>
            <a:r>
              <a:t>Governance Sign-Off &amp; Corporate Signatures</a:t>
            </a:r>
          </a:p>
        </p:txBody>
      </p:sp>
      <p:sp>
        <p:nvSpPr>
          <p:cNvPr id="4" name="TextBox 3"/>
          <p:cNvSpPr txBox="1"/>
          <p:nvPr/>
        </p:nvSpPr>
        <p:spPr>
          <a:xfrm>
            <a:off x="731520" y="868680"/>
            <a:ext cx="8961120" cy="320040"/>
          </a:xfrm>
          <a:prstGeom prst="rect">
            <a:avLst/>
          </a:prstGeom>
          <a:noFill/>
        </p:spPr>
        <p:txBody>
          <a:bodyPr wrap="none">
            <a:spAutoFit/>
          </a:bodyPr>
          <a:lstStyle/>
          <a:p>
            <a:pPr>
              <a:defRPr sz="1000" b="1">
                <a:solidFill>
                  <a:srgbClr val="64748B"/>
                </a:solidFill>
              </a:defRPr>
            </a:pPr>
            <a:r>
              <a:t>FINAL ACTION PLAN APPROVAL</a:t>
            </a:r>
          </a:p>
        </p:txBody>
      </p:sp>
      <p:sp>
        <p:nvSpPr>
          <p:cNvPr id="5" name="Rectangle 4"/>
          <p:cNvSpPr/>
          <p:nvPr/>
        </p:nvSpPr>
        <p:spPr>
          <a:xfrm>
            <a:off x="731520" y="12344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55080"/>
            <a:ext cx="4572000" cy="274320"/>
          </a:xfrm>
          <a:prstGeom prst="rect">
            <a:avLst/>
          </a:prstGeom>
          <a:noFill/>
        </p:spPr>
        <p:txBody>
          <a:bodyPr wrap="none">
            <a:spAutoFit/>
          </a:bodyPr>
          <a:lstStyle/>
          <a:p>
            <a:pPr>
              <a:defRPr sz="850" b="1">
                <a:solidFill>
                  <a:srgbClr val="64748B"/>
                </a:solidFill>
              </a:defRPr>
            </a:pPr>
            <a:r>
              <a:t>MARS Food &amp; Nutrition Corporate Review</a:t>
            </a:r>
          </a:p>
        </p:txBody>
      </p:sp>
      <p:sp>
        <p:nvSpPr>
          <p:cNvPr id="7" name="TextBox 6"/>
          <p:cNvSpPr txBox="1"/>
          <p:nvPr/>
        </p:nvSpPr>
        <p:spPr>
          <a:xfrm>
            <a:off x="4114800" y="6355080"/>
            <a:ext cx="4572000" cy="274320"/>
          </a:xfrm>
          <a:prstGeom prst="rect">
            <a:avLst/>
          </a:prstGeom>
          <a:noFill/>
        </p:spPr>
        <p:txBody>
          <a:bodyPr wrap="none">
            <a:spAutoFit/>
          </a:bodyPr>
          <a:lstStyle/>
          <a:p>
            <a:pPr algn="ctr">
              <a:defRPr sz="850" b="1">
                <a:solidFill>
                  <a:srgbClr val="10955D"/>
                </a:solidFill>
              </a:defRPr>
            </a:pPr>
            <a:r>
              <a:t>CONFIDENTIAL — CORPORATE GOVERNANCE</a:t>
            </a:r>
          </a:p>
        </p:txBody>
      </p:sp>
      <p:sp>
        <p:nvSpPr>
          <p:cNvPr id="8" name="TextBox 7"/>
          <p:cNvSpPr txBox="1"/>
          <p:nvPr/>
        </p:nvSpPr>
        <p:spPr>
          <a:xfrm>
            <a:off x="9144000" y="6355080"/>
            <a:ext cx="2316175" cy="274320"/>
          </a:xfrm>
          <a:prstGeom prst="rect">
            <a:avLst/>
          </a:prstGeom>
          <a:noFill/>
        </p:spPr>
        <p:txBody>
          <a:bodyPr wrap="none">
            <a:spAutoFit/>
          </a:bodyPr>
          <a:lstStyle/>
          <a:p>
            <a:pPr algn="r">
              <a:defRPr sz="850" b="1">
                <a:solidFill>
                  <a:srgbClr val="64748B"/>
                </a:solidFill>
              </a:defRPr>
            </a:pPr>
            <a:r>
              <a:t>Slide 80 of 80</a:t>
            </a:r>
          </a:p>
        </p:txBody>
      </p:sp>
      <p:sp>
        <p:nvSpPr>
          <p:cNvPr id="9" name="Rounded Rectangle 8"/>
          <p:cNvSpPr/>
          <p:nvPr/>
        </p:nvSpPr>
        <p:spPr>
          <a:xfrm>
            <a:off x="731520" y="1645920"/>
            <a:ext cx="10728655" cy="4206240"/>
          </a:xfrm>
          <a:prstGeom prst="roundRect">
            <a:avLst/>
          </a:prstGeom>
          <a:solidFill>
            <a:srgbClr val="ECFDF5"/>
          </a:solidFill>
          <a:ln>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920240"/>
            <a:ext cx="9966960" cy="3657600"/>
          </a:xfrm>
          <a:prstGeom prst="rect">
            <a:avLst/>
          </a:prstGeom>
          <a:noFill/>
        </p:spPr>
        <p:txBody>
          <a:bodyPr wrap="square">
            <a:spAutoFit/>
          </a:bodyPr>
          <a:lstStyle/>
          <a:p>
            <a:pPr>
              <a:defRPr sz="1600" b="1">
                <a:solidFill>
                  <a:srgbClr val="0B2545"/>
                </a:solidFill>
              </a:defRPr>
            </a:pPr>
            <a:r>
              <a:t>Certified Governance Sign-Off — Mars Food &amp; Nutrition Executive Board</a:t>
            </a:r>
          </a:p>
          <a:p>
            <a:pPr>
              <a:spcBef>
                <a:spcPts val="1400"/>
              </a:spcBef>
              <a:defRPr sz="1100">
                <a:solidFill>
                  <a:srgbClr val="1E293B"/>
                </a:solidFill>
              </a:defRPr>
            </a:pPr>
            <a:r>
              <a:t>This 80-slide performance deck was assembled and verified via the FNOS Automation Engine. All underlying financial values, market share statistics, and trade promotion metrics reflect authenticated feeds from the Databricks Gold Layer repository.</a:t>
            </a:r>
          </a:p>
          <a:p>
            <a:pPr>
              <a:spcBef>
                <a:spcPts val="1800"/>
              </a:spcBef>
              <a:defRPr sz="1100">
                <a:solidFill>
                  <a:srgbClr val="1E293B"/>
                </a:solidFill>
              </a:defRPr>
            </a:pPr>
            <a:r>
              <a:t>Key Next Operating Actions:</a:t>
            </a:r>
            <a:br/>
            <a:r>
              <a:t>• Present European Rollup to Global Leadership Committee (Q2 W02)</a:t>
            </a:r>
            <a:br/>
            <a:r>
              <a:t>• Lock H2 A&amp;CP media reallocation plans with local Market General Managers</a:t>
            </a:r>
            <a:br/>
            <a:r>
              <a:t>• Authorize QGI joint-business-planning (JBP) terms with tier-1 grocery retailers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